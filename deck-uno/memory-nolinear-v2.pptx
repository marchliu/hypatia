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相对体积（对数压缩）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相对体积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L2 主题摘要</c:v>
                </c:pt>
                <c:pt idx="1">
                  <c:v>L1 会话摘要</c:v>
                </c:pt>
                <c:pt idx="2">
                  <c:v>L0 原始对话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0.39</c:v>
                </c:pt>
                <c:pt idx="1">
                  <c:v>6.25</c:v>
                </c:pt>
                <c:pt idx="2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3500" y="1270000"/>
            <a:ext cx="4191000" cy="4191000"/>
          </a:xfrm>
          <a:prstGeom prst="ellipse">
            <a:avLst/>
          </a:prstGeom>
          <a:noFill/>
          <a:ln w="1905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80400" y="1866900"/>
            <a:ext cx="2997200" cy="2997200"/>
          </a:xfrm>
          <a:prstGeom prst="ellipse">
            <a:avLst/>
          </a:prstGeom>
          <a:noFill/>
          <a:ln w="1905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4600" y="2451100"/>
            <a:ext cx="1828800" cy="1828800"/>
          </a:xfrm>
          <a:prstGeom prst="ellipse">
            <a:avLst/>
          </a:prstGeom>
          <a:noFill/>
          <a:ln w="19050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7112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635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FB4D8"/>
                </a:solidFill>
                <a:latin typeface="Hiragino Sans GB"/>
                <a:ea typeface="Hiragino Sans GB"/>
              </a:rPr>
              <a:t>HYPATIA · MEMORY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286000"/>
            <a:ext cx="68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Hiragino Sans GB"/>
                <a:ea typeface="Hiragino Sans GB"/>
              </a:rPr>
              <a:t>非线性的记忆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000500"/>
            <a:ext cx="68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9FB4D8"/>
                </a:solidFill>
                <a:latin typeface="Hiragino Sans GB"/>
                <a:ea typeface="Hiragino Sans GB"/>
              </a:rPr>
              <a:t>从线性对话流到可检索的知识结构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900000"/>
            <a:ext cx="64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iragino Sans GB"/>
                <a:ea typeface="Hiragino Sans GB"/>
              </a:rPr>
              <a:t>基于 docs/memory-nolinear.md · 50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今天的路线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02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7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1965000"/>
            <a:ext cx="60000" cy="67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7600" y="2055000"/>
            <a:ext cx="9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F6BFF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0000" y="2015000"/>
            <a:ext cx="88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1"/>
                </a:solidFill>
                <a:latin typeface="Hiragino Sans GB"/>
                <a:ea typeface="Hiragino Sans GB"/>
              </a:rPr>
              <a:t>Session 的识别与切分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000" y="2365000"/>
            <a:ext cx="8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iragino Sans GB"/>
                <a:ea typeface="Hiragino Sans GB"/>
              </a:rPr>
              <a:t>语义信号：话题 · 任务 · 时间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2815000"/>
            <a:ext cx="10566400" cy="7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800" y="2875000"/>
            <a:ext cx="60000" cy="670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" y="2965000"/>
            <a:ext cx="9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B5A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0000" y="2925000"/>
            <a:ext cx="88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1"/>
                </a:solidFill>
                <a:latin typeface="Hiragino Sans GB"/>
                <a:ea typeface="Hiragino Sans GB"/>
              </a:rPr>
              <a:t>对数空间的 Session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0000" y="3275000"/>
            <a:ext cx="8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iragino Sans GB"/>
                <a:ea typeface="Hiragino Sans GB"/>
              </a:rPr>
              <a:t>log₁₆(n) · 分层归档 · 下钻回溯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" y="3725000"/>
            <a:ext cx="10566400" cy="7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800" y="3785000"/>
            <a:ext cx="60000" cy="67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7600" y="3875000"/>
            <a:ext cx="9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A93B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0000" y="3835000"/>
            <a:ext cx="88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1"/>
                </a:solidFill>
                <a:latin typeface="Hiragino Sans GB"/>
                <a:ea typeface="Hiragino Sans GB"/>
              </a:rPr>
              <a:t>滑动窗口与知识点梳理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0000" y="4185000"/>
            <a:ext cx="8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iragino Sans GB"/>
                <a:ea typeface="Hiragino Sans GB"/>
              </a:rPr>
              <a:t>时机 · 提取原则 · 纠错链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800" y="4635000"/>
            <a:ext cx="10566400" cy="7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800" y="4695000"/>
            <a:ext cx="60000" cy="67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600" y="4785000"/>
            <a:ext cx="9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F6BFF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0000" y="4745000"/>
            <a:ext cx="88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1"/>
                </a:solidFill>
                <a:latin typeface="Hiragino Sans GB"/>
                <a:ea typeface="Hiragino Sans GB"/>
              </a:rPr>
              <a:t>三元组与图结构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0000" y="5095000"/>
            <a:ext cx="8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iragino Sans GB"/>
                <a:ea typeface="Hiragino Sans GB"/>
              </a:rPr>
              <a:t>显式化关系 · 图遍历发现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5545000"/>
            <a:ext cx="10566400" cy="7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5605000"/>
            <a:ext cx="60000" cy="670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600" y="5695000"/>
            <a:ext cx="9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B5A5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0000" y="5655000"/>
            <a:ext cx="88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1"/>
                </a:solidFill>
                <a:latin typeface="Hiragino Sans GB"/>
                <a:ea typeface="Hiragino Sans GB"/>
              </a:rPr>
              <a:t>读写通道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0000" y="6005000"/>
            <a:ext cx="8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iragino Sans GB"/>
                <a:ea typeface="Hiragino Sans GB"/>
              </a:rPr>
              <a:t>自动回忆适配 · 显式写入/读取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开场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为什么不能只保存对话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03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032000"/>
            <a:ext cx="9850000" cy="101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Context Length 只解决了“读懂当前”</a:t>
            </a:r>
            <a:r>
              <a:rPr sz="1700" b="0">
                <a:solidFill>
                  <a:srgbClr val="44546A"/>
                </a:solidFill>
                <a:latin typeface="Hiragino Sans GB"/>
                <a:ea typeface="Hiragino Sans GB"/>
              </a:rPr>
              <a:t>　它的增长从未触碰“记住过去”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199000"/>
            <a:ext cx="9850000" cy="101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保存对话本身 = 保存噪声</a:t>
            </a:r>
            <a:r>
              <a:rPr sz="1700" b="0">
                <a:solidFill>
                  <a:srgbClr val="44546A"/>
                </a:solidFill>
                <a:latin typeface="Hiragino Sans GB"/>
                <a:ea typeface="Hiragino Sans GB"/>
              </a:rPr>
              <a:t>　过程、寒暄、已被推翻的尝试全被存档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366000"/>
            <a:ext cx="9850000" cy="101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正确目标：保存被整理出来的知识</a:t>
            </a:r>
            <a:r>
              <a:rPr sz="1700" b="0">
                <a:solidFill>
                  <a:srgbClr val="44546A"/>
                </a:solidFill>
                <a:latin typeface="Hiragino Sans GB"/>
                <a:ea typeface="Hiragino Sans GB"/>
              </a:rPr>
              <a:t>　而不是保存对话的原始流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533000"/>
            <a:ext cx="9850000" cy="101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线性记录的三个痛点</a:t>
            </a:r>
            <a:r>
              <a:rPr sz="1700" b="0">
                <a:solidFill>
                  <a:srgbClr val="44546A"/>
                </a:solidFill>
                <a:latin typeface="Hiragino Sans GB"/>
                <a:ea typeface="Hiragino Sans GB"/>
              </a:rPr>
              <a:t>　体积膨胀 · 检索困难 · 无法关联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30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2F6BFF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3200000"/>
            <a:ext cx="600000" cy="6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3500000"/>
            <a:ext cx="80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Hiragino Sans GB"/>
                <a:ea typeface="Hiragino Sans GB"/>
              </a:rPr>
              <a:t>Session 的识别与切分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400000"/>
            <a:ext cx="8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B4D8"/>
                </a:solidFill>
                <a:latin typeface="Hiragino Sans GB"/>
                <a:ea typeface="Hiragino Sans GB"/>
              </a:rPr>
              <a:t>整理之前，先回答“什么是一个 session”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Session切分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什么是一个 Session？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05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17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800" y="219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粗看不成问题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800" y="275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一次启动到一次退出，就是一段对话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5800" y="203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5800" y="2092000"/>
            <a:ext cx="60000" cy="1780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800" y="219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现实更复杂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800" y="275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一次会话换了三个不相干的话题；一个任务横跨多次重启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15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800" y="4212000"/>
            <a:ext cx="60000" cy="178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800" y="431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单位若错了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2800" y="487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后面所有摘要和抽取都对着错误的对象工作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5800" y="415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800" y="4212000"/>
            <a:ext cx="60000" cy="17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800" y="431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800" y="487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框架给出的物理边界 ≠ 语义上的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Session切分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切分靠语义信号，而非物理边界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06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106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0000" y="2352000"/>
            <a:ext cx="800000" cy="540000"/>
          </a:xfrm>
          <a:prstGeom prst="roundRect">
            <a:avLst>
              <a:gd name="adj" fmla="val 6000"/>
            </a:avLst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2352000"/>
            <a:ext cx="80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000" y="2212000"/>
            <a:ext cx="86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话题切换（最强）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0000" y="2672000"/>
            <a:ext cx="86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从 sqlite 存储跳到集群运维，就该切成两段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3412000"/>
            <a:ext cx="105664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3472000"/>
            <a:ext cx="60000" cy="1060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0000" y="3732000"/>
            <a:ext cx="800000" cy="540000"/>
          </a:xfrm>
          <a:prstGeom prst="roundRect">
            <a:avLst>
              <a:gd name="adj" fmla="val 6000"/>
            </a:avLst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0000" y="3732000"/>
            <a:ext cx="80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000" y="3592000"/>
            <a:ext cx="86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任务边界（次强）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0000" y="4052000"/>
            <a:ext cx="86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一次明确交付的完成 = 一段叙事的自然终结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4792000"/>
            <a:ext cx="105664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" y="4852000"/>
            <a:ext cx="60000" cy="106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0000" y="5112000"/>
            <a:ext cx="800000" cy="540000"/>
          </a:xfrm>
          <a:prstGeom prst="roundRect">
            <a:avLst>
              <a:gd name="adj" fmla="val 6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0000" y="5112000"/>
            <a:ext cx="80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0000" y="4972000"/>
            <a:ext cx="86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时间间隔（最弱）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0000" y="5432000"/>
            <a:ext cx="86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中断一夜后的继续，值得检查是否切开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6232000"/>
            <a:ext cx="105664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A8AA3"/>
                </a:solidFill>
                <a:latin typeface="Hiragino Sans GB"/>
                <a:ea typeface="Hiragino Sans GB"/>
              </a:rPr>
              <a:t>物理边界仅作提示：收敛则顺势切分，未收敛建议并入下一段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711200"/>
            <a:ext cx="330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1900" y="635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FB4D8"/>
                </a:solidFill>
                <a:latin typeface="Hiragino Sans GB"/>
                <a:ea typeface="Hiragino Sans GB"/>
              </a:rPr>
              <a:t>Session切分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" y="2050000"/>
            <a:ext cx="100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Hiragino Sans GB"/>
                <a:ea typeface="Hiragino Sans GB"/>
              </a:rPr>
              <a:t>一个 session 恰好容纳一个可独立陈述的主题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7600" y="3700000"/>
            <a:ext cx="4900000" cy="1000000"/>
          </a:xfrm>
          <a:prstGeom prst="roundRect">
            <a:avLst>
              <a:gd name="adj" fmla="val 6000"/>
            </a:avLst>
          </a:prstGeom>
          <a:solidFill>
            <a:srgbClr val="22355C"/>
          </a:solidFill>
          <a:ln w="12700">
            <a:solidFill>
              <a:srgbClr val="335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7600" y="386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太小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428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4D8"/>
                </a:solidFill>
                <a:latin typeface="Hiragino Sans GB"/>
                <a:ea typeface="Hiragino Sans GB"/>
              </a:rPr>
              <a:t>摘要被迫丢弃异质信息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7600" y="3700000"/>
            <a:ext cx="4900000" cy="1000000"/>
          </a:xfrm>
          <a:prstGeom prst="roundRect">
            <a:avLst>
              <a:gd name="adj" fmla="val 6000"/>
            </a:avLst>
          </a:prstGeom>
          <a:solidFill>
            <a:srgbClr val="22355C"/>
          </a:solidFill>
          <a:ln w="12700">
            <a:solidFill>
              <a:srgbClr val="335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7600" y="386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太大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7600" y="428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4D8"/>
                </a:solidFill>
                <a:latin typeface="Hiragino Sans GB"/>
                <a:ea typeface="Hiragino Sans GB"/>
              </a:rPr>
              <a:t>窗口没有空间等待话题收敛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5300000"/>
            <a:ext cx="9956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iragino Sans GB"/>
                <a:ea typeface="Hiragino Sans GB"/>
              </a:rPr>
              <a:t>切错可修复：低层原文总在，更高层归档时可重新缝合；不识别才是不可修复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30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2F6BFF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3200000"/>
            <a:ext cx="600000" cy="6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3500000"/>
            <a:ext cx="80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Hiragino Sans GB"/>
                <a:ea typeface="Hiragino Sans GB"/>
              </a:rPr>
              <a:t>对数空间的 Session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400000"/>
            <a:ext cx="8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B4D8"/>
                </a:solidFill>
                <a:latin typeface="Hiragino Sans GB"/>
                <a:ea typeface="Hiragino Sans GB"/>
              </a:rPr>
              <a:t>如果一个摘要和原对话一样长，它就毫无意义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分层归档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对数空间的 Session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09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2300000"/>
            <a:ext cx="35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2F6BFF"/>
                </a:solidFill>
                <a:latin typeface="Hiragino Sans GB"/>
                <a:ea typeface="Hiragino Sans GB"/>
              </a:rPr>
              <a:t>16 :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700000"/>
            <a:ext cx="35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546A"/>
                </a:solidFill>
                <a:latin typeface="Hiragino Sans GB"/>
                <a:ea typeface="Hiragino Sans GB"/>
              </a:rPr>
              <a:t>每上升一层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546A"/>
                </a:solidFill>
                <a:latin typeface="Hiragino Sans GB"/>
                <a:ea typeface="Hiragino Sans GB"/>
              </a:rPr>
              <a:t>压缩十六倍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700000" y="2050000"/>
          <a:ext cx="6600000" cy="39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12800" y="6150000"/>
            <a:ext cx="105664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Hiragino Sans GB"/>
                <a:ea typeface="Hiragino Sans GB"/>
              </a:rPr>
              <a:t>目标：log₁₆(n) 的空间代价：每上升一层压缩 16 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分层归档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分层归档 = B 树逻辑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10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17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800" y="219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拒绝一次性压缩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800" y="275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“读完一万字写出两百字”，损失不可控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5800" y="203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5800" y="2092000"/>
            <a:ext cx="60000" cy="1780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800" y="219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分层归档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800" y="275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每层只面对上一层的产物，输入已是高密度内容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15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800" y="4212000"/>
            <a:ext cx="60000" cy="178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800" y="431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损失发生在每层边缘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2800" y="487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而非一次性的坍塌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5800" y="415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800" y="4212000"/>
            <a:ext cx="60000" cy="17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800" y="431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B 树类比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800" y="487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不指望根节点存住所有数据，只指望从根出发总能找到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分层归档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三层归档与下钻回溯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11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8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L2 主题摘要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最稀疏，面向主题检索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28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516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16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L1 会话摘要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16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16:1 归档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6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904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4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L0 原始对话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04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冷存，不删除，退出热路径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004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2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92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精确回溯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92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从高层逐层下钻，每下一层多一次检索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30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2F6BFF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3200000"/>
            <a:ext cx="600000" cy="6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3500000"/>
            <a:ext cx="80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Hiragino Sans GB"/>
                <a:ea typeface="Hiragino Sans GB"/>
              </a:rPr>
              <a:t>滑动窗口与知识点梳理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400000"/>
            <a:ext cx="8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B4D8"/>
                </a:solidFill>
                <a:latin typeface="Hiragino Sans GB"/>
                <a:ea typeface="Hiragino Sans GB"/>
              </a:rPr>
              <a:t>压缩之外，更关键的是抽取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知识抽取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滑动窗口：抽取的时机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13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8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已归档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窗口滑过 = 既成事实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28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516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16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窗口内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16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待整理的候选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6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904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4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未来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04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尚未发生的对话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004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2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92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窗口的意义在于节奏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92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而非容量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知识抽取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窗口大小 = 话题的生命周期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14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17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800" y="219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太短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800" y="275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把猜测和已被推翻的尝试误当成知识写入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5800" y="203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5800" y="2092000"/>
            <a:ext cx="60000" cy="1780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800" y="219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太长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800" y="275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整理的时机姗姗来迟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15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800" y="4212000"/>
            <a:ext cx="60000" cy="178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800" y="431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实践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2800" y="487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窗口覆盖一个完整话题的自然生命周期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5800" y="415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800" y="4212000"/>
            <a:ext cx="60000" cy="17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800" y="431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梳理时机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800" y="487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出现收敛迹象：结论被确认、话题被切换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知识抽取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知识点：脱离上下文仍成立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15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5143000" cy="25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A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2800" y="2232000"/>
            <a:ext cx="6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7A8AA3"/>
                </a:solidFill>
                <a:latin typeface="Hiragino Sans GB"/>
                <a:ea typeface="Hiragino Sans GB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2800" y="2232000"/>
            <a:ext cx="4143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用户说要用 sqlite 换掉 duckdb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2800" y="3400000"/>
            <a:ext cx="4743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Hiragino Sans GB"/>
                <a:ea typeface="Hiragino Sans GB"/>
              </a:rPr>
              <a:t>只在语境里有意义——那是聊天记录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5800" y="2032000"/>
            <a:ext cx="5143000" cy="25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5800" y="2232000"/>
            <a:ext cx="6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B5A5"/>
                </a:solidFill>
                <a:latin typeface="Hiragino Sans GB"/>
                <a:ea typeface="Hiragino Sans GB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5800" y="2232000"/>
            <a:ext cx="4143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存储层评估过 sqlite 单库方案，因 json contains 查询不可行而搁置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5800" y="3400000"/>
            <a:ext cx="4743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Hiragino Sans GB"/>
                <a:ea typeface="Hiragino Sans GB"/>
              </a:rPr>
              <a:t>任何时候可检索、可直接使用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900000"/>
            <a:ext cx="10566400" cy="8000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600" y="4900000"/>
            <a:ext cx="99564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每次梳理都要裁决：新增、修正还是否定；否定留下冲突痕迹，绝不悄悄覆盖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提取原则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提取原则（一）：记什么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16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032000"/>
            <a:ext cx="9850000" cy="101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记教训而非流水账</a:t>
            </a:r>
            <a:r>
              <a:rPr sz="1700" b="0">
                <a:solidFill>
                  <a:srgbClr val="44546A"/>
                </a:solidFill>
                <a:latin typeface="Hiragino Sans GB"/>
                <a:ea typeface="Hiragino Sans GB"/>
              </a:rPr>
              <a:t>　“用 Arc&lt;Mutex&lt;T&gt;&gt;”合格；“用合适的同步机制”不合格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199000"/>
            <a:ext cx="9850000" cy="101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对质量保守，对时机激进</a:t>
            </a:r>
            <a:r>
              <a:rPr sz="1700" b="0">
                <a:solidFill>
                  <a:srgbClr val="44546A"/>
                </a:solidFill>
                <a:latin typeface="Hiragino Sans GB"/>
                <a:ea typeface="Hiragino Sans GB"/>
              </a:rPr>
              <a:t>　拿不准宁可跳过，但检查频率不能省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366000"/>
            <a:ext cx="9850000" cy="101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纠错链是金子</a:t>
            </a:r>
            <a:r>
              <a:rPr sz="1700" b="0">
                <a:solidFill>
                  <a:srgbClr val="44546A"/>
                </a:solidFill>
                <a:latin typeface="Hiragino Sans GB"/>
                <a:ea typeface="Hiragino Sans GB"/>
              </a:rPr>
              <a:t>　问题→错答→纠正→修正，最难从文档重新获得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533000"/>
            <a:ext cx="9850000" cy="101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Hiragino Sans GB"/>
                <a:ea typeface="Hiragino Sans GB"/>
              </a:rPr>
              <a:t>分类决定模板</a:t>
            </a:r>
            <a:r>
              <a:rPr sz="1700" b="0">
                <a:solidFill>
                  <a:srgbClr val="44546A"/>
                </a:solidFill>
                <a:latin typeface="Hiragino Sans GB"/>
                <a:ea typeface="Hiragino Sans GB"/>
              </a:rPr>
              <a:t>　答对/纠错链/探索/bug/决策各有骨架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提取原则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提取原则（二）：怎么记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17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8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相对时间 → 绝对时间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“明天提醒”→“2026-08-29 提醒”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28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516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16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写给未来的读取者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16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“明天”在入库那一刻就开始失效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6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904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4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宁冗勿漏关系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04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谓词不完美也要把三元组挂进图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004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2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92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绝不存敏感信息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92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密码、密钥、token 不进入任何一层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30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2F6BFF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3200000"/>
            <a:ext cx="600000" cy="6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3500000"/>
            <a:ext cx="80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Hiragino Sans GB"/>
                <a:ea typeface="Hiragino Sans GB"/>
              </a:rPr>
              <a:t>三元组与图结构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400000"/>
            <a:ext cx="8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B4D8"/>
                </a:solidFill>
                <a:latin typeface="Hiragino Sans GB"/>
                <a:ea typeface="Hiragino Sans GB"/>
              </a:rPr>
              <a:t>知识点彼此不是孤立的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知识图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三元组：把隐含关系显式化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19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17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800" y="219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关系藏在语气和语序中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800" y="275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“sqlite 搁置”与“json contains 是核心依赖”有因果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5800" y="203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5800" y="2092000"/>
            <a:ext cx="60000" cy="1780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800" y="219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整理时显式化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800" y="275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每个知识点拆为 (主语, 谓语, 宾语) 写入 RDF 风格的图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15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800" y="4212000"/>
            <a:ext cx="60000" cy="178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800" y="431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分工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2800" y="487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正文负责“读到时理解”，三元组负责“需要时找到”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5800" y="415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800" y="4212000"/>
            <a:ext cx="60000" cy="17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800" y="431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图的遍历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800" y="487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是发现隐性关联的唯一手段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711200"/>
            <a:ext cx="330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1900" y="635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FB4D8"/>
                </a:solidFill>
                <a:latin typeface="Hiragino Sans GB"/>
                <a:ea typeface="Hiragino Sans GB"/>
              </a:rPr>
              <a:t>知识图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" y="2050000"/>
            <a:ext cx="100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Hiragino Sans GB"/>
                <a:ea typeface="Hiragino Sans GB"/>
              </a:rPr>
              <a:t>三元组抽取不完美，谓词粒度难以精确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7600" y="3700000"/>
            <a:ext cx="4900000" cy="1000000"/>
          </a:xfrm>
          <a:prstGeom prst="roundRect">
            <a:avLst>
              <a:gd name="adj" fmla="val 6000"/>
            </a:avLst>
          </a:prstGeom>
          <a:solidFill>
            <a:srgbClr val="22355C"/>
          </a:solidFill>
          <a:ln w="12700">
            <a:solidFill>
              <a:srgbClr val="335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7600" y="386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错误可被发现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428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4D8"/>
                </a:solidFill>
                <a:latin typeface="Hiragino Sans GB"/>
                <a:ea typeface="Hiragino Sans GB"/>
              </a:rPr>
              <a:t>一条错误三元组是可挑战、可 resolve 的对象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7600" y="3700000"/>
            <a:ext cx="4900000" cy="1000000"/>
          </a:xfrm>
          <a:prstGeom prst="roundRect">
            <a:avLst>
              <a:gd name="adj" fmla="val 6000"/>
            </a:avLst>
          </a:prstGeom>
          <a:solidFill>
            <a:srgbClr val="22355C"/>
          </a:solidFill>
          <a:ln w="12700">
            <a:solidFill>
              <a:srgbClr val="335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7600" y="386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未结构化的对话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7600" y="428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4D8"/>
                </a:solidFill>
                <a:latin typeface="Hiragino Sans GB"/>
                <a:ea typeface="Hiragino Sans GB"/>
              </a:rPr>
              <a:t>连犯错的资格都没有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30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2F6BFF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3200000"/>
            <a:ext cx="600000" cy="6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3500000"/>
            <a:ext cx="80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Hiragino Sans GB"/>
                <a:ea typeface="Hiragino Sans GB"/>
              </a:rPr>
              <a:t>自动回忆与显式读写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400000"/>
            <a:ext cx="8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B4D8"/>
                </a:solidFill>
                <a:latin typeface="Hiragino Sans GB"/>
                <a:ea typeface="Hiragino Sans GB"/>
              </a:rPr>
              <a:t>整理是写的一侧，回忆是读的一侧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读取通道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自动回忆：按 Agent 机制适配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22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3380000" cy="32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30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800" y="2260000"/>
            <a:ext cx="294000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A41"/>
                </a:solidFill>
                <a:latin typeface="Hiragino Sans GB"/>
                <a:ea typeface="Hiragino Sans GB"/>
              </a:rPr>
              <a:t>每轮重构 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800" y="3450000"/>
            <a:ext cx="29400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确定性注入：任务开始执行一次 JSE 查询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5800" y="2032000"/>
            <a:ext cx="3380000" cy="32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5800" y="2092000"/>
            <a:ext cx="60000" cy="3080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5800" y="2260000"/>
            <a:ext cx="294000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A41"/>
                </a:solidFill>
                <a:latin typeface="Hiragino Sans GB"/>
                <a:ea typeface="Hiragino Sans GB"/>
              </a:rPr>
              <a:t>持续上下文、能自主调工具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5800" y="3450000"/>
            <a:ext cx="29400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技能层检索：需要时自己发起，中途可补查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8800" y="2032000"/>
            <a:ext cx="3380000" cy="32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8800" y="2092000"/>
            <a:ext cx="60000" cy="308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8800" y="2260000"/>
            <a:ext cx="294000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A41"/>
                </a:solidFill>
                <a:latin typeface="Hiragino Sans GB"/>
                <a:ea typeface="Hiragino Sans GB"/>
              </a:rPr>
              <a:t>被动响应、几乎无主动权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8800" y="3450000"/>
            <a:ext cx="29400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边界触发：新任务、用户提醒时外部注入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5600000"/>
            <a:ext cx="105664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A8AA3"/>
                </a:solidFill>
                <a:latin typeface="Hiragino Sans GB"/>
                <a:ea typeface="Hiragino Sans GB"/>
              </a:rPr>
              <a:t>hypatia skill 的使命：同一套查询能力，包装成每个 Agent 最顺手的形态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读取通道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显式写入与显式读取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23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17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2800" y="219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显式写入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800" y="275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“把运维文档写进 hypatia”——现成材料跳过窗口，直接拆解入库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5800" y="203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5800" y="2092000"/>
            <a:ext cx="60000" cy="1780000"/>
          </a:xfrm>
          <a:prstGeom prst="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800" y="219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显式读取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800" y="275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“读 hypatia 找运维记忆”——检索从 Agent 判断变成用户指令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15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800" y="4212000"/>
            <a:ext cx="60000" cy="178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800" y="431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手动复位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2800" y="487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自动回忆失灵时的一句话复位：成本一句话，回报是整个知识库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5800" y="4152000"/>
            <a:ext cx="5143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800" y="4212000"/>
            <a:ext cx="60000" cy="1780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800" y="4312000"/>
            <a:ext cx="4703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A41"/>
                </a:solidFill>
                <a:latin typeface="Hiragino Sans GB"/>
                <a:ea typeface="Hiragino Sans GB"/>
              </a:rPr>
              <a:t>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800" y="4872000"/>
            <a:ext cx="4703000" cy="1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546A"/>
                </a:solidFill>
                <a:latin typeface="Hiragino Sans GB"/>
                <a:ea typeface="Hiragino Sans GB"/>
              </a:rPr>
              <a:t>opencode 要直接 ssh 服务器时，一句提醒就够了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60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iragino Sans GB"/>
                <a:ea typeface="Hiragino Sans GB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iragino Sans GB"/>
                <a:ea typeface="Hiragino Sans GB"/>
              </a:rPr>
              <a:t>全景：从线性对话流到知识图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iragino Sans GB"/>
                <a:ea typeface="Hiragino Sans GB"/>
              </a:rPr>
              <a:t>24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8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写入路径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线性对话流 → 语义切分 → L0/L1/L2 对数归档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28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516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16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抽取路径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16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对话流经滑动窗口 → 知识点 + 三元组 → 知识图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6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904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4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例外路径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04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显式写入直通知识图，跳过窗口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00400" y="3550000"/>
            <a:ext cx="268800" cy="0"/>
          </a:xfrm>
          <a:prstGeom prst="line">
            <a:avLst/>
          </a:prstGeom>
          <a:ln w="19050">
            <a:solidFill>
              <a:srgbClr val="7A8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200" y="280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9200" y="3000000"/>
            <a:ext cx="207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Hiragino Sans GB"/>
                <a:ea typeface="Hiragino Sans GB"/>
              </a:rPr>
              <a:t>读取通道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9200" y="3480000"/>
            <a:ext cx="207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Hiragino Sans GB"/>
                <a:ea typeface="Hiragino Sans GB"/>
              </a:rPr>
              <a:t>自动回忆（按 Agent 适配）+ 显式读取 → 服务 Agent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3500" y="1270000"/>
            <a:ext cx="4191000" cy="4191000"/>
          </a:xfrm>
          <a:prstGeom prst="ellipse">
            <a:avLst/>
          </a:prstGeom>
          <a:noFill/>
          <a:ln w="1905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80400" y="1866900"/>
            <a:ext cx="2997200" cy="2997200"/>
          </a:xfrm>
          <a:prstGeom prst="ellipse">
            <a:avLst/>
          </a:prstGeom>
          <a:noFill/>
          <a:ln w="1905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711200"/>
            <a:ext cx="330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635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FB4D8"/>
                </a:solidFill>
                <a:latin typeface="Hiragino Sans GB"/>
                <a:ea typeface="Hiragino Sans GB"/>
              </a:rPr>
              <a:t>写在最后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90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Hiragino Sans GB"/>
                <a:ea typeface="Hiragino Sans GB"/>
              </a:rPr>
              <a:t>对话是给人看的，知识是给机器用的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3300000"/>
            <a:ext cx="2500000" cy="9000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3300000"/>
            <a:ext cx="25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对数分层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4D8"/>
                </a:solidFill>
                <a:latin typeface="Hiragino Sans GB"/>
                <a:ea typeface="Hiragino Sans GB"/>
              </a:rPr>
              <a:t>控制体积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2800" y="3300000"/>
            <a:ext cx="2500000" cy="9000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2800" y="3300000"/>
            <a:ext cx="25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滑动窗口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4D8"/>
                </a:solidFill>
                <a:latin typeface="Hiragino Sans GB"/>
                <a:ea typeface="Hiragino Sans GB"/>
              </a:rPr>
              <a:t>控制时机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2800" y="3300000"/>
            <a:ext cx="2500000" cy="9000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2800" y="3300000"/>
            <a:ext cx="25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三元组图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4D8"/>
                </a:solidFill>
                <a:latin typeface="Hiragino Sans GB"/>
                <a:ea typeface="Hiragino Sans GB"/>
              </a:rPr>
              <a:t>提供发现路径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2800" y="3300000"/>
            <a:ext cx="2500000" cy="9000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2800" y="3300000"/>
            <a:ext cx="25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</a:rPr>
              <a:t>双通道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4D8"/>
                </a:solidFill>
                <a:latin typeface="Hiragino Sans GB"/>
                <a:ea typeface="Hiragino Sans GB"/>
              </a:rPr>
              <a:t>覆盖日常与例外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460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B4D8"/>
                </a:solidFill>
                <a:latin typeface="Hiragino Sans GB"/>
                <a:ea typeface="Hiragino Sans GB"/>
              </a:rPr>
              <a:t>四件事拼在一起 = “有限记忆的 AI 使用无限长度的知识内容”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3500" y="1270000"/>
            <a:ext cx="4191000" cy="4191000"/>
          </a:xfrm>
          <a:prstGeom prst="ellipse">
            <a:avLst/>
          </a:prstGeom>
          <a:noFill/>
          <a:ln w="1905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80400" y="1866900"/>
            <a:ext cx="2997200" cy="2997200"/>
          </a:xfrm>
          <a:prstGeom prst="ellipse">
            <a:avLst/>
          </a:prstGeom>
          <a:noFill/>
          <a:ln w="1905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711200"/>
            <a:ext cx="330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635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FB4D8"/>
                </a:solidFill>
                <a:latin typeface="Hiragino Sans GB"/>
                <a:ea typeface="Hiragino Sans GB"/>
              </a:rPr>
              <a:t>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350000"/>
            <a:ext cx="8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Hiragino Sans GB"/>
                <a:ea typeface="Hiragino Sans GB"/>
              </a:rP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800000"/>
            <a:ext cx="8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B4D8"/>
                </a:solidFill>
                <a:latin typeface="Hiragino Sans GB"/>
                <a:ea typeface="Hiragino Sans GB"/>
              </a:rPr>
              <a:t>欢迎提问：切分 · 归档 · 抽取 · 图结构 · 读写通道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3500" y="1270000"/>
            <a:ext cx="4191000" cy="4191000"/>
          </a:xfrm>
          <a:prstGeom prst="ellipse">
            <a:avLst/>
          </a:prstGeom>
          <a:noFill/>
          <a:ln w="19050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80400" y="1866900"/>
            <a:ext cx="2997200" cy="2997200"/>
          </a:xfrm>
          <a:prstGeom prst="ellipse">
            <a:avLst/>
          </a:prstGeom>
          <a:noFill/>
          <a:ln w="1905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711200"/>
            <a:ext cx="330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635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FB4D8"/>
                </a:solidFill>
                <a:latin typeface="Hiragino Sans GB"/>
                <a:ea typeface="Hiragino Sans GB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450000"/>
            <a:ext cx="800000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Hiragino Sans GB"/>
                <a:ea typeface="Hiragino Sans GB"/>
              </a:rPr>
              <a:t>谢谢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800000"/>
            <a:ext cx="8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B4D8"/>
                </a:solidFill>
                <a:latin typeface="Hiragino Sans GB"/>
                <a:ea typeface="Hiragino Sans GB"/>
              </a:rPr>
              <a:t>非线性的记忆 · hypatia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5900000"/>
            <a:ext cx="80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iragino Sans GB"/>
                <a:ea typeface="Hiragino Sans GB"/>
              </a:rPr>
              <a:t>github.com/MarchLiu/hypatia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