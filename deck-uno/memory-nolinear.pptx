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3500" y="1270000"/>
            <a:ext cx="4191000" cy="4191000"/>
          </a:xfrm>
          <a:prstGeom prst="ellipse">
            <a:avLst/>
          </a:prstGeom>
          <a:noFill/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0400" y="1866900"/>
            <a:ext cx="2997200" cy="2997200"/>
          </a:xfrm>
          <a:prstGeom prst="ellipse">
            <a:avLst/>
          </a:prstGeom>
          <a:noFill/>
          <a:ln w="19050">
            <a:solidFill>
              <a:srgbClr val="12B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4600" y="2451100"/>
            <a:ext cx="1828800" cy="1828800"/>
          </a:xfrm>
          <a:prstGeom prst="ellipse">
            <a:avLst/>
          </a:prstGeom>
          <a:noFill/>
          <a:ln w="1905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28200" y="3314700"/>
            <a:ext cx="101600" cy="1016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0000" y="635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eiti SC"/>
                <a:ea typeface="Heiti SC"/>
              </a:rPr>
              <a:t>HYPATIA · MEMORY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286000"/>
            <a:ext cx="680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Heiti SC"/>
                <a:ea typeface="Heiti SC"/>
              </a:rPr>
              <a:t>非线性的记忆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000500"/>
            <a:ext cx="64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9FB4D8"/>
                </a:solidFill>
                <a:latin typeface="Heiti SC"/>
                <a:ea typeface="Heiti SC"/>
              </a:rPr>
              <a:t>从线性对话流到可检索的知识结构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5900000"/>
            <a:ext cx="64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eiti SC"/>
                <a:ea typeface="Heiti SC"/>
              </a:rPr>
              <a:t>基于 docs/memory-nolinear.md · 50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今天的路线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02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65000"/>
            <a:ext cx="60000" cy="670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2085000"/>
            <a:ext cx="9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6BFF"/>
                </a:solidFill>
                <a:latin typeface="Heiti SC"/>
                <a:ea typeface="Heiti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0000" y="2015000"/>
            <a:ext cx="88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eiti SC"/>
                <a:ea typeface="Heiti SC"/>
              </a:rPr>
              <a:t>Session 的识别与切分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2355000"/>
            <a:ext cx="8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eiti SC"/>
                <a:ea typeface="Heiti SC"/>
              </a:rPr>
              <a:t>语义信号：话题 · 任务 · 时间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281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0" y="2875000"/>
            <a:ext cx="60000" cy="670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2995000"/>
            <a:ext cx="9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B5A5"/>
                </a:solidFill>
                <a:latin typeface="Heiti SC"/>
                <a:ea typeface="Heiti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0000" y="2925000"/>
            <a:ext cx="88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eiti SC"/>
                <a:ea typeface="Heiti SC"/>
              </a:rPr>
              <a:t>对数空间的 Session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0000" y="3265000"/>
            <a:ext cx="8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eiti SC"/>
                <a:ea typeface="Heiti SC"/>
              </a:rPr>
              <a:t>log₁₆(n) · 分层归档 · 下钻回溯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372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800" y="3785000"/>
            <a:ext cx="60000" cy="670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7600" y="3905000"/>
            <a:ext cx="9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2A93B"/>
                </a:solidFill>
                <a:latin typeface="Heiti SC"/>
                <a:ea typeface="Heiti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0000" y="3835000"/>
            <a:ext cx="88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eiti SC"/>
                <a:ea typeface="Heiti SC"/>
              </a:rPr>
              <a:t>滑动窗口与知识点梳理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0000" y="4175000"/>
            <a:ext cx="8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eiti SC"/>
                <a:ea typeface="Heiti SC"/>
              </a:rPr>
              <a:t>时机 · 提取原则 · 纠错链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800" y="463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800" y="4695000"/>
            <a:ext cx="60000" cy="670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600" y="4815000"/>
            <a:ext cx="9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F6BFF"/>
                </a:solidFill>
                <a:latin typeface="Heiti SC"/>
                <a:ea typeface="Heiti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0000" y="4745000"/>
            <a:ext cx="88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eiti SC"/>
                <a:ea typeface="Heiti SC"/>
              </a:rPr>
              <a:t>三元组与图结构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0000" y="5085000"/>
            <a:ext cx="8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eiti SC"/>
                <a:ea typeface="Heiti SC"/>
              </a:rPr>
              <a:t>显式化关系 · 图遍历发现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5545000"/>
            <a:ext cx="10566400" cy="7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5605000"/>
            <a:ext cx="60000" cy="670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" y="5725000"/>
            <a:ext cx="9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2B5A5"/>
                </a:solidFill>
                <a:latin typeface="Heiti SC"/>
                <a:ea typeface="Heiti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0000" y="5655000"/>
            <a:ext cx="88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2A41"/>
                </a:solidFill>
                <a:latin typeface="Heiti SC"/>
                <a:ea typeface="Heiti SC"/>
              </a:rPr>
              <a:t>读写通道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0000" y="5995000"/>
            <a:ext cx="88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A8AA3"/>
                </a:solidFill>
                <a:latin typeface="Heiti SC"/>
                <a:ea typeface="Heiti SC"/>
              </a:rPr>
              <a:t>自动回忆适配 · 显式写入/读取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为什么不能只保存对话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01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Context Length 的增长解决“读懂当前”，没有触碰“记住过去”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保存对话本身 = 保存噪声：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过程、寒暄、已被推翻的尝试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正确目标：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保存对话中被整理出来的知识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线性记录三个痛点：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体积膨胀、检索困难、无法关联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第一步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什么是一个 Session？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02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粗看不成问题：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一次启动到一次退出就是一段对话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现实更复杂：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一次会话可能换三个不相干的话题；一个任务可能横跨多次重启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整理的单位若错了：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后面所有摘要和抽取都对着错误的对象工作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框架给出的物理边界 ≠ 语义上的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Session 切分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语义信号优先于物理边界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话题切换（最强）：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从 sqlite 存储跳到集群运维，就该切成两段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任务边界（次强）：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一次明确交付的完成 = 一段叙事的自然终结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时间间隔（最弱）：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中断一夜后的继续，值得检查是否切开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物理边界仅作提示：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收敛则顺势切分，未收敛建议并入下一段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Session 切分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切分粒度：一个 session，一个主题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04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准则：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一个 session 恰好容纳一个可独立陈述的主题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太小：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摘要被迫丢弃异质信息；太大：窗口没有空间等待话题收敛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切分不追求一次定终身：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低层原文总在，切错的边界可在更高层归档时重新缝合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识别错误是可修复的，不识别才是不可修复的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分层归档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对数空间的 Session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05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若摘要和原对话一样长，摘要毫无意义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目标：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log₁₆(n) 的空间代价——每上升一层压缩 16 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16 份对话 → 1 份会话摘要；16 份摘要 → 1 份主题摘要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被压缩的是叙事和过程，不是结论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分层归档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分层压缩 vs 一次性压缩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06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拒绝一次性压缩：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“读完一万字写出两百字”损失不可控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分层归档：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每层只面对上一层的产物，输入已是高密度内容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损失发生在每一层的边缘，而非一次性的坍塌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B 树逻辑：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不指望根节点存住所有数据，只指望从根出发总能找到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分层归档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三层归档与下钻回溯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07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L0 原始对话：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冷存，不删除，退出热路径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L1 会话摘要：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16:1 归档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L2 主题摘要：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再 16:1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精确回溯：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从高层逐层下钻，每下一层多一次检索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知识抽取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滑动窗口：抽取的时机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08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对话进行中，hypatia-memory 用滑动窗口跟踪历史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窗口内：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待整理的候选；窗口滑过：已归档的既成事实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知识点不是每句话都产生——十轮讨论才沉淀一个结论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窗口的意义在于节奏，而非容量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知识抽取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窗口大小 = 话题的生命周期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09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太短：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把猜测和已被推翻的尝试误当成知识写入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太长：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整理的时机姗姗来迟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实践：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窗口覆盖“一个完整话题的自然生命周期”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梳理时机：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出现收敛迹象（结论被确认、话题被切换）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知识抽取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知识点：脱离上下文仍成立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10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定义：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一条自含的、脱离对话上下文仍然成立的陈述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✗ “用户说要用 sqlite 换掉 duckdb”——那是聊天记录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✓ “存储层评估过 sqlite 单库方案，因 json contains 查询不可行而搁置”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前者只在语境里有意义，后者任何时候可检索、可直接使用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知识抽取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梳理时的裁决：新增、修正还是否定？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11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每次梳理都要裁决：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这条知识是新的，还是对既有知识的修正或否定？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修正 → 更新既有条目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否定 → 留下冲突的痕迹，绝不悄悄覆盖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记忆系统最忌讳：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悄悄忘记自己曾经知道什么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提取原则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提取原则（一）：记什么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12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记录教训而非流水账：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“用 Arc&lt;Mutex&lt;T&gt;&gt;”合格，“用合适的同步机制”不合格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对质量保守、对时机激进：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拿不准宁可跳过，但检查频率不能省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纠错链是金子：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问题→错答→纠正→修正，保留 initial attempt/错因/正确做法/lesson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分类决定模板：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一次答对、纠错链、探索讨论、bug 修复、设计决策各有骨架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提取原则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提取原则（二）：怎么记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相对时间必须改写为绝对时间：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“明天提醒”→“2026-08-29 提醒”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知识点写给未来的读取者：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“明天”这种词在入库那一刻就开始失效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宁冗勿漏关系：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哪怕谓词不完美，也要把三元组挂进图里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绝不存储敏感信息：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密码、密钥、token 不进入任何一层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知识图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三元组：把隐含关系显式化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14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关系藏在语气和语序中：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“sqlite 方案搁置”与“json contains 是核心依赖”有因果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整理时必须显式化：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每个知识点拆解为若干 (主语, 谓语, 宾语) 陈述，写入 RDF 风格的图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分工：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正文负责“读到时理解”，三元组负责“需要时找到”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图的遍历是发现隐性关联的唯一手段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知识图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图遍历：发现隐性关联的唯一手段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15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从 “sqlite” 出发沿关系走两步，撞见三年前关于 PG jsonb 的讨论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这种相遇在任何全文检索里都不会发生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承认噪声：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三元组抽取不完美，谓词粒度难以精确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一条错误的三元组是可发现、可挑战、可 resolve 的对象；未结构化的对话连犯错的资格都没有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读取通道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自动回忆：按 Agent 机制适配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16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每轮重建 system prompt 的 Agent → 确定性注入：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任务开始执行一次 JSE 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有持续上下文、可自主调工具的 Agent → 回忆保持在技能层，需要时自己检索、中途补查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被动响应、几乎无主动权的 Agent → 在对话边界（新任务、用户提醒）触发外部注入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hypatia skill 的使命：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同一套查询能力，包装成每个 Agent 最顺手的形态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读取通道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显式写入与显式读取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17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显式写入：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“把这份运维文档写进 hypatia”——现成材料跳过窗口等待，直接拆解入库；适合长时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显式读取：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“读一下 hypatia 找运维记忆”——检索从 Agent 的判断变成用户的指令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显式读取是自动回忆失灵时的手动复位：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成本一句话，回报是整个知识库的重新在场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例：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opencode 要直接 ssh 服务器时，一句提醒就够了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60400"/>
            <a:ext cx="3302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0000" y="600000"/>
            <a:ext cx="60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BFF"/>
                </a:solidFill>
                <a:latin typeface="Heiti SC"/>
                <a:ea typeface="Heiti SC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00000"/>
            <a:ext cx="95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1"/>
                </a:solidFill>
                <a:latin typeface="Heiti SC"/>
                <a:ea typeface="Heiti SC"/>
              </a:rPr>
              <a:t>全景图：线性到非线性的完整路径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800" y="660400"/>
            <a:ext cx="787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7A8AA3"/>
                </a:solidFill>
                <a:latin typeface="Heiti SC"/>
                <a:ea typeface="Heiti SC"/>
              </a:rPr>
              <a:t>18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780000"/>
            <a:ext cx="10566400" cy="12700"/>
          </a:xfrm>
          <a:prstGeom prst="rect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2032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2092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2152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写入路径：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线性对话流 → 语义切分 → L0/L1/L2 对数归档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199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3259000"/>
            <a:ext cx="60000" cy="897000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3319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抽取路径：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对话流经滑动窗口 → 知识点 + 三元组 → 知识图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366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0" y="4426000"/>
            <a:ext cx="60000" cy="8970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1900" y="4486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例外路径：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显式写入直通知识图，跳过窗口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533000"/>
            <a:ext cx="10566400" cy="101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5593000"/>
            <a:ext cx="60000" cy="897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900" y="5653000"/>
            <a:ext cx="9850000" cy="77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Heiti SC"/>
                <a:ea typeface="Heiti SC"/>
              </a:rPr>
              <a:t>读取通道：</a:t>
            </a:r>
            <a:r>
              <a:rPr sz="2000" b="0">
                <a:solidFill>
                  <a:srgbClr val="44546A"/>
                </a:solidFill>
                <a:latin typeface="Heiti SC"/>
                <a:ea typeface="Heiti SC"/>
              </a:rPr>
              <a:t>自动回忆（按 Agent 适配）+ 显式读取 → 服务 Agent 完成任务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3500" y="1270000"/>
            <a:ext cx="4191000" cy="4191000"/>
          </a:xfrm>
          <a:prstGeom prst="ellipse">
            <a:avLst/>
          </a:prstGeom>
          <a:noFill/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0400" y="1866900"/>
            <a:ext cx="2997200" cy="2997200"/>
          </a:xfrm>
          <a:prstGeom prst="ellipse">
            <a:avLst/>
          </a:prstGeom>
          <a:noFill/>
          <a:ln w="19050">
            <a:solidFill>
              <a:srgbClr val="12B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4600" y="2451100"/>
            <a:ext cx="1828800" cy="1828800"/>
          </a:xfrm>
          <a:prstGeom prst="ellipse">
            <a:avLst/>
          </a:prstGeom>
          <a:noFill/>
          <a:ln w="1905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28200" y="3314700"/>
            <a:ext cx="101600" cy="1016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711200"/>
            <a:ext cx="330200" cy="508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0000" y="635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FB4D8"/>
                </a:solidFill>
                <a:latin typeface="Heiti SC"/>
                <a:ea typeface="Heiti SC"/>
              </a:rPr>
              <a:t>写在最后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1900000"/>
            <a:ext cx="70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eiti SC"/>
                <a:ea typeface="Heiti SC"/>
              </a:rPr>
              <a:t>对话是给人看的，知识是给机器用的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150000"/>
            <a:ext cx="2700000" cy="8500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60000" bIns="60000"/>
          <a:lstStyle/>
          <a:p>
            <a:pPr algn="ctr"/>
            <a:r>
              <a:rPr sz="1800" b="1">
                <a:solidFill>
                  <a:srgbClr val="FFFFFF"/>
                </a:solidFill>
                <a:latin typeface="Heiti SC"/>
                <a:ea typeface="Heiti SC"/>
              </a:rPr>
              <a:t>对数分层</a:t>
            </a:r>
          </a:p>
          <a:p>
            <a:pPr algn="ctr"/>
            <a:r>
              <a:rPr sz="1300" b="0">
                <a:solidFill>
                  <a:srgbClr val="9FB4D8"/>
                </a:solidFill>
                <a:latin typeface="Heiti SC"/>
                <a:ea typeface="Heiti SC"/>
              </a:rPr>
              <a:t>控制体积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3800" y="3150000"/>
            <a:ext cx="2700000" cy="8500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60000" bIns="60000"/>
          <a:lstStyle/>
          <a:p>
            <a:pPr algn="ctr"/>
            <a:r>
              <a:rPr sz="1800" b="1">
                <a:solidFill>
                  <a:srgbClr val="FFFFFF"/>
                </a:solidFill>
                <a:latin typeface="Heiti SC"/>
                <a:ea typeface="Heiti SC"/>
              </a:rPr>
              <a:t>滑动窗口</a:t>
            </a:r>
          </a:p>
          <a:p>
            <a:pPr algn="ctr"/>
            <a:r>
              <a:rPr sz="1300" b="0">
                <a:solidFill>
                  <a:srgbClr val="9FB4D8"/>
                </a:solidFill>
                <a:latin typeface="Heiti SC"/>
                <a:ea typeface="Heiti SC"/>
              </a:rPr>
              <a:t>控制时机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4100000"/>
            <a:ext cx="2700000" cy="8500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60000" bIns="60000"/>
          <a:lstStyle/>
          <a:p>
            <a:pPr algn="ctr"/>
            <a:r>
              <a:rPr sz="1800" b="1">
                <a:solidFill>
                  <a:srgbClr val="FFFFFF"/>
                </a:solidFill>
                <a:latin typeface="Heiti SC"/>
                <a:ea typeface="Heiti SC"/>
              </a:rPr>
              <a:t>三元组图</a:t>
            </a:r>
          </a:p>
          <a:p>
            <a:pPr algn="ctr"/>
            <a:r>
              <a:rPr sz="1300" b="0">
                <a:solidFill>
                  <a:srgbClr val="9FB4D8"/>
                </a:solidFill>
                <a:latin typeface="Heiti SC"/>
                <a:ea typeface="Heiti SC"/>
              </a:rPr>
              <a:t>提供发现路径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3800" y="4100000"/>
            <a:ext cx="2700000" cy="8500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60000" bIns="60000"/>
          <a:lstStyle/>
          <a:p>
            <a:pPr algn="ctr"/>
            <a:r>
              <a:rPr sz="1800" b="1">
                <a:solidFill>
                  <a:srgbClr val="FFFFFF"/>
                </a:solidFill>
                <a:latin typeface="Heiti SC"/>
                <a:ea typeface="Heiti SC"/>
              </a:rPr>
              <a:t>双通道</a:t>
            </a:r>
          </a:p>
          <a:p>
            <a:pPr algn="ctr"/>
            <a:r>
              <a:rPr sz="1300" b="0">
                <a:solidFill>
                  <a:srgbClr val="9FB4D8"/>
                </a:solidFill>
                <a:latin typeface="Heiti SC"/>
                <a:ea typeface="Heiti SC"/>
              </a:rPr>
              <a:t>覆盖日常与例外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5250000"/>
            <a:ext cx="90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B4D8"/>
                </a:solidFill>
                <a:latin typeface="Heiti SC"/>
                <a:ea typeface="Heiti SC"/>
              </a:rPr>
              <a:t>四件事拼在一起 = “有限记忆的 AI 使用无限长度的知识内容”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5950000"/>
            <a:ext cx="4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Heiti SC"/>
                <a:ea typeface="Heiti S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