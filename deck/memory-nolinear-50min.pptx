
<file path=[Content_Types].xml><?xml version="1.0" encoding="utf-8"?>
<Types xmlns="http://schemas.openxmlformats.org/package/2006/content-types">
  <Default Extension="bmp" ContentType="image/bmp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92024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subtitle"/>
          <p:cNvSpPr/>
          <p:nvPr>
            <p:ph type="subTitle"/>
          </p:nvPr>
        </p:nvSpPr>
        <p:spPr>
          <a:xfrm>
            <a:off x="609600" y="339344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"/>
          <p:cNvSpPr/>
          <p:nvPr>
            <p:ph type="body"/>
          </p:nvPr>
        </p:nvSpPr>
        <p:spPr>
          <a:xfrm>
            <a:off x="609600" y="1625600"/>
            <a:ext cx="109728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7145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"/>
          <p:cNvSpPr/>
          <p:nvPr>
            <p:ph type="body"/>
          </p:nvPr>
        </p:nvSpPr>
        <p:spPr>
          <a:xfrm>
            <a:off x="609600" y="31877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-left"/>
          <p:cNvSpPr/>
          <p:nvPr>
            <p:ph type="body" idx="1"/>
          </p:nvPr>
        </p:nvSpPr>
        <p:spPr>
          <a:xfrm>
            <a:off x="6096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body-right"/>
          <p:cNvSpPr/>
          <p:nvPr>
            <p:ph type="body" idx="2"/>
          </p:nvPr>
        </p:nvSpPr>
        <p:spPr>
          <a:xfrm>
            <a:off x="62230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-left"/>
          <p:cNvSpPr/>
          <p:nvPr>
            <p:ph type="body" idx="1"/>
          </p:nvPr>
        </p:nvSpPr>
        <p:spPr>
          <a:xfrm>
            <a:off x="6096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text-right"/>
          <p:cNvSpPr/>
          <p:nvPr>
            <p:ph type="body" idx="2"/>
          </p:nvPr>
        </p:nvSpPr>
        <p:spPr>
          <a:xfrm>
            <a:off x="62230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ph-body-left"/>
          <p:cNvSpPr/>
          <p:nvPr>
            <p:ph type="body" idx="1"/>
          </p:nvPr>
        </p:nvSpPr>
        <p:spPr>
          <a:xfrm>
            <a:off x="6096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ph-body-right"/>
          <p:cNvSpPr/>
          <p:nvPr>
            <p:ph type="body" idx="2"/>
          </p:nvPr>
        </p:nvSpPr>
        <p:spPr>
          <a:xfrm>
            <a:off x="62230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picture"/>
          <p:cNvSpPr/>
          <p:nvPr>
            <p:ph type="pic"/>
          </p:nvPr>
        </p:nvSpPr>
        <p:spPr>
          <a:xfrm>
            <a:off x="609600" y="406400"/>
            <a:ext cx="10972800" cy="4927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caption"/>
          <p:cNvSpPr/>
          <p:nvPr>
            <p:ph type="body"/>
          </p:nvPr>
        </p:nvSpPr>
        <p:spPr>
          <a:xfrm>
            <a:off x="609600" y="5537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ellipse 1"/>
          <p:cNvSpPr/>
          <p:nvPr/>
        </p:nvSpPr>
        <p:spPr>
          <a:xfrm>
            <a:off x="7683500" y="1270000"/>
            <a:ext cx="4191000" cy="4191000"/>
          </a:xfrm>
          <a:prstGeom prst="ellipse">
            <a:avLst/>
          </a:prstGeom>
          <a:noFill/>
          <a:ln w="19050">
            <a:solidFill>
              <a:srgbClr val="2F6BFF">
                <a:alpha val="8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ellipse 2"/>
          <p:cNvSpPr/>
          <p:nvPr/>
        </p:nvSpPr>
        <p:spPr>
          <a:xfrm>
            <a:off x="8280400" y="1866900"/>
            <a:ext cx="2997200" cy="2997200"/>
          </a:xfrm>
          <a:prstGeom prst="ellipse">
            <a:avLst/>
          </a:prstGeom>
          <a:noFill/>
          <a:ln w="19050">
            <a:solidFill>
              <a:srgbClr val="12B5A5">
                <a:alpha val="8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ellipse 3"/>
          <p:cNvSpPr/>
          <p:nvPr/>
        </p:nvSpPr>
        <p:spPr>
          <a:xfrm>
            <a:off x="8864600" y="2451100"/>
            <a:ext cx="1828800" cy="1828800"/>
          </a:xfrm>
          <a:prstGeom prst="ellipse">
            <a:avLst/>
          </a:prstGeom>
          <a:noFill/>
          <a:ln w="19050">
            <a:solidFill>
              <a:srgbClr val="F2A93B">
                <a:alpha val="8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ellipse 4"/>
          <p:cNvSpPr/>
          <p:nvPr/>
        </p:nvSpPr>
        <p:spPr>
          <a:xfrm>
            <a:off x="9728200" y="3314700"/>
            <a:ext cx="101600" cy="1016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2"/>
          <p:cNvSpPr/>
          <p:nvPr/>
        </p:nvSpPr>
        <p:spPr>
          <a:xfrm>
            <a:off x="812800" y="7112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3"/>
          <p:cNvSpPr/>
          <p:nvPr/>
        </p:nvSpPr>
        <p:spPr>
          <a:xfrm>
            <a:off x="812800" y="927100"/>
            <a:ext cx="2006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>
                <a:solidFill>
                  <a:srgbClr val="7A8AA3"/>
                </a:solidFill>
                <a:latin typeface="PingFang SC"/>
                <a:ea typeface="PingFang SC"/>
              </a:rPr>
              <a:t>HYPATIA · 记忆机制</a:t>
            </a:r>
          </a:p>
        </p:txBody>
      </p:sp>
      <p:sp>
        <p:nvSpPr>
          <p:cNvPr id="9" name="rect 4"/>
          <p:cNvSpPr/>
          <p:nvPr/>
        </p:nvSpPr>
        <p:spPr>
          <a:xfrm>
            <a:off x="812800" y="2082800"/>
            <a:ext cx="4978400" cy="977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6400" b="1">
                <a:solidFill>
                  <a:srgbClr val="FFFFFF"/>
                </a:solidFill>
                <a:latin typeface="PingFang SC"/>
                <a:ea typeface="PingFang SC"/>
              </a:rPr>
              <a:t>非线性的记忆</a:t>
            </a:r>
          </a:p>
        </p:txBody>
      </p:sp>
      <p:sp>
        <p:nvSpPr>
          <p:cNvPr id="10" name="rect 5"/>
          <p:cNvSpPr/>
          <p:nvPr/>
        </p:nvSpPr>
        <p:spPr>
          <a:xfrm>
            <a:off x="812800" y="3416300"/>
            <a:ext cx="2235200" cy="368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2400">
                <a:solidFill>
                  <a:srgbClr val="9FB4D8"/>
                </a:solidFill>
                <a:latin typeface="PingFang SC"/>
                <a:ea typeface="PingFang SC"/>
              </a:rPr>
              <a:t>从线性对话流，</a:t>
            </a:r>
          </a:p>
        </p:txBody>
      </p:sp>
      <p:sp>
        <p:nvSpPr>
          <p:cNvPr id="11" name="rect 6"/>
          <p:cNvSpPr/>
          <p:nvPr/>
        </p:nvSpPr>
        <p:spPr>
          <a:xfrm>
            <a:off x="812800" y="3873500"/>
            <a:ext cx="5283200" cy="368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2400">
                <a:solidFill>
                  <a:srgbClr val="9FB4D8"/>
                </a:solidFill>
                <a:latin typeface="PingFang SC"/>
                <a:ea typeface="PingFang SC"/>
              </a:rPr>
              <a:t>到可检索、可理解、可关联的知识结构</a:t>
            </a:r>
          </a:p>
        </p:txBody>
      </p:sp>
      <p:cxnSp>
        <p:nvCxnSpPr>
          <p:cNvPr id="12" name="line 1"/>
          <p:cNvCxnSpPr/>
          <p:nvPr/>
        </p:nvCxnSpPr>
        <p:spPr>
          <a:xfrm>
            <a:off x="812800" y="5581650"/>
            <a:ext cx="4013200" cy="12700"/>
          </a:xfrm>
          <a:prstGeom prst="line">
            <a:avLst/>
          </a:prstGeom>
          <a:noFill/>
          <a:ln w="12700">
            <a:solidFill>
              <a:srgbClr val="2F3D5C"/>
            </a:solidFill>
          </a:ln>
        </p:spPr>
      </p:cxnSp>
      <p:sp>
        <p:nvSpPr>
          <p:cNvPr id="13" name="rect 7"/>
          <p:cNvSpPr/>
          <p:nvPr/>
        </p:nvSpPr>
        <p:spPr>
          <a:xfrm>
            <a:off x="812800" y="5778500"/>
            <a:ext cx="3632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>
                <a:solidFill>
                  <a:srgbClr val="7A8AA3"/>
                </a:solidFill>
                <a:latin typeface="PingFang SC"/>
                <a:ea typeface="PingFang SC"/>
              </a:rPr>
              <a:t>hypatia 的对话记忆整理机制 · 50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导览</a:t>
            </a:r>
          </a:p>
        </p:txBody>
      </p:sp>
      <p:sp>
        <p:nvSpPr>
          <p:cNvPr id="5" name="rect 4"/>
          <p:cNvSpPr/>
          <p:nvPr/>
        </p:nvSpPr>
        <p:spPr>
          <a:xfrm>
            <a:off x="10591800" y="673100"/>
            <a:ext cx="787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02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26924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今天讲六件事</a:t>
            </a:r>
          </a:p>
        </p:txBody>
      </p:sp>
      <p:sp>
        <p:nvSpPr>
          <p:cNvPr id="7" name="roundRect 1"/>
          <p:cNvSpPr/>
          <p:nvPr/>
        </p:nvSpPr>
        <p:spPr>
          <a:xfrm>
            <a:off x="812800" y="2032000"/>
            <a:ext cx="3314700" cy="1905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1117600" y="2184400"/>
            <a:ext cx="482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3000" b="1">
                <a:solidFill>
                  <a:srgbClr val="2F6BFF"/>
                </a:solidFill>
                <a:latin typeface="PingFang SC"/>
                <a:ea typeface="Noto Sans SC"/>
              </a:rPr>
              <a:t>01</a:t>
            </a:r>
          </a:p>
        </p:txBody>
      </p:sp>
      <p:sp>
        <p:nvSpPr>
          <p:cNvPr id="9" name="rect 7"/>
          <p:cNvSpPr/>
          <p:nvPr/>
        </p:nvSpPr>
        <p:spPr>
          <a:xfrm>
            <a:off x="1117600" y="2794000"/>
            <a:ext cx="14351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2100" b="1">
                <a:solidFill>
                  <a:srgbClr val="1B2A41"/>
                </a:solidFill>
                <a:latin typeface="PingFang SC"/>
                <a:ea typeface="PingFang SC"/>
              </a:rPr>
              <a:t>线性的困境</a:t>
            </a:r>
          </a:p>
        </p:txBody>
      </p:sp>
      <p:sp>
        <p:nvSpPr>
          <p:cNvPr id="10" name="rect 8"/>
          <p:cNvSpPr/>
          <p:nvPr/>
        </p:nvSpPr>
        <p:spPr>
          <a:xfrm>
            <a:off x="1117600" y="3276600"/>
            <a:ext cx="2387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为什么保存对话本身行不通</a:t>
            </a:r>
          </a:p>
        </p:txBody>
      </p:sp>
      <p:sp>
        <p:nvSpPr>
          <p:cNvPr id="11" name="roundRect 2"/>
          <p:cNvSpPr/>
          <p:nvPr/>
        </p:nvSpPr>
        <p:spPr>
          <a:xfrm>
            <a:off x="4432300" y="2032000"/>
            <a:ext cx="3314700" cy="1905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9"/>
          <p:cNvSpPr/>
          <p:nvPr/>
        </p:nvSpPr>
        <p:spPr>
          <a:xfrm>
            <a:off x="4737100" y="2184400"/>
            <a:ext cx="5588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3000" b="1">
                <a:solidFill>
                  <a:srgbClr val="2F6BFF"/>
                </a:solidFill>
                <a:latin typeface="PingFang SC"/>
                <a:ea typeface="Noto Sans SC"/>
              </a:rPr>
              <a:t>02</a:t>
            </a:r>
          </a:p>
        </p:txBody>
      </p:sp>
      <p:sp>
        <p:nvSpPr>
          <p:cNvPr id="13" name="rect 10"/>
          <p:cNvSpPr/>
          <p:nvPr/>
        </p:nvSpPr>
        <p:spPr>
          <a:xfrm>
            <a:off x="4737100" y="2794000"/>
            <a:ext cx="27813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2100" b="1">
                <a:solidFill>
                  <a:srgbClr val="1B2A41"/>
                </a:solidFill>
                <a:latin typeface="PingFang SC"/>
                <a:ea typeface="PingFang SC"/>
              </a:rPr>
              <a:t>Session 的识别与切分</a:t>
            </a:r>
          </a:p>
        </p:txBody>
      </p:sp>
      <p:sp>
        <p:nvSpPr>
          <p:cNvPr id="14" name="rect 11"/>
          <p:cNvSpPr/>
          <p:nvPr/>
        </p:nvSpPr>
        <p:spPr>
          <a:xfrm>
            <a:off x="4737100" y="3276600"/>
            <a:ext cx="2197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语义信号，而非物理边界</a:t>
            </a:r>
          </a:p>
        </p:txBody>
      </p:sp>
      <p:sp>
        <p:nvSpPr>
          <p:cNvPr id="15" name="roundRect 3"/>
          <p:cNvSpPr/>
          <p:nvPr/>
        </p:nvSpPr>
        <p:spPr>
          <a:xfrm>
            <a:off x="8051800" y="2032000"/>
            <a:ext cx="3314700" cy="1905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2"/>
          <p:cNvSpPr/>
          <p:nvPr/>
        </p:nvSpPr>
        <p:spPr>
          <a:xfrm>
            <a:off x="8356600" y="2184400"/>
            <a:ext cx="5588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3000" b="1">
                <a:solidFill>
                  <a:srgbClr val="2F6BFF"/>
                </a:solidFill>
                <a:latin typeface="PingFang SC"/>
                <a:ea typeface="Noto Sans SC"/>
              </a:rPr>
              <a:t>03</a:t>
            </a:r>
          </a:p>
        </p:txBody>
      </p:sp>
      <p:sp>
        <p:nvSpPr>
          <p:cNvPr id="17" name="rect 13"/>
          <p:cNvSpPr/>
          <p:nvPr/>
        </p:nvSpPr>
        <p:spPr>
          <a:xfrm>
            <a:off x="8356600" y="2794000"/>
            <a:ext cx="19685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2100" b="1">
                <a:solidFill>
                  <a:srgbClr val="1B2A41"/>
                </a:solidFill>
                <a:latin typeface="PingFang SC"/>
                <a:ea typeface="PingFang SC"/>
              </a:rPr>
              <a:t>对数空间的摘要</a:t>
            </a:r>
          </a:p>
        </p:txBody>
      </p:sp>
      <p:sp>
        <p:nvSpPr>
          <p:cNvPr id="18" name="rect 14"/>
          <p:cNvSpPr/>
          <p:nvPr/>
        </p:nvSpPr>
        <p:spPr>
          <a:xfrm>
            <a:off x="8356600" y="3276600"/>
            <a:ext cx="1816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log₁₆(n) 的分层归档</a:t>
            </a:r>
          </a:p>
        </p:txBody>
      </p:sp>
      <p:sp>
        <p:nvSpPr>
          <p:cNvPr id="19" name="roundRect 4"/>
          <p:cNvSpPr/>
          <p:nvPr/>
        </p:nvSpPr>
        <p:spPr>
          <a:xfrm>
            <a:off x="812800" y="4191000"/>
            <a:ext cx="3314700" cy="1905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15"/>
          <p:cNvSpPr/>
          <p:nvPr/>
        </p:nvSpPr>
        <p:spPr>
          <a:xfrm>
            <a:off x="1117600" y="4343400"/>
            <a:ext cx="5588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3000" b="1">
                <a:solidFill>
                  <a:srgbClr val="12B5A5"/>
                </a:solidFill>
                <a:latin typeface="PingFang SC"/>
                <a:ea typeface="Noto Sans SC"/>
              </a:rPr>
              <a:t>04</a:t>
            </a:r>
          </a:p>
        </p:txBody>
      </p:sp>
      <p:sp>
        <p:nvSpPr>
          <p:cNvPr id="21" name="rect 16"/>
          <p:cNvSpPr/>
          <p:nvPr/>
        </p:nvSpPr>
        <p:spPr>
          <a:xfrm>
            <a:off x="1117600" y="4953000"/>
            <a:ext cx="22352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2100" b="1">
                <a:solidFill>
                  <a:srgbClr val="1B2A41"/>
                </a:solidFill>
                <a:latin typeface="PingFang SC"/>
                <a:ea typeface="PingFang SC"/>
              </a:rPr>
              <a:t>滑动窗口与知识点</a:t>
            </a:r>
          </a:p>
        </p:txBody>
      </p:sp>
      <p:sp>
        <p:nvSpPr>
          <p:cNvPr id="22" name="rect 17"/>
          <p:cNvSpPr/>
          <p:nvPr/>
        </p:nvSpPr>
        <p:spPr>
          <a:xfrm>
            <a:off x="1117600" y="5435600"/>
            <a:ext cx="1816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收敛时机与提取原则</a:t>
            </a:r>
          </a:p>
        </p:txBody>
      </p:sp>
      <p:sp>
        <p:nvSpPr>
          <p:cNvPr id="23" name="roundRect 5"/>
          <p:cNvSpPr/>
          <p:nvPr/>
        </p:nvSpPr>
        <p:spPr>
          <a:xfrm>
            <a:off x="4432300" y="4191000"/>
            <a:ext cx="3314700" cy="1905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8"/>
          <p:cNvSpPr/>
          <p:nvPr/>
        </p:nvSpPr>
        <p:spPr>
          <a:xfrm>
            <a:off x="4737100" y="4343400"/>
            <a:ext cx="5588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3000" b="1">
                <a:solidFill>
                  <a:srgbClr val="12B5A5"/>
                </a:solidFill>
                <a:latin typeface="PingFang SC"/>
                <a:ea typeface="Noto Sans SC"/>
              </a:rPr>
              <a:t>05</a:t>
            </a:r>
          </a:p>
        </p:txBody>
      </p:sp>
      <p:sp>
        <p:nvSpPr>
          <p:cNvPr id="25" name="rect 19"/>
          <p:cNvSpPr/>
          <p:nvPr/>
        </p:nvSpPr>
        <p:spPr>
          <a:xfrm>
            <a:off x="4737100" y="4953000"/>
            <a:ext cx="19685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2100" b="1">
                <a:solidFill>
                  <a:srgbClr val="1B2A41"/>
                </a:solidFill>
                <a:latin typeface="PingFang SC"/>
                <a:ea typeface="PingFang SC"/>
              </a:rPr>
              <a:t>三元组与图结构</a:t>
            </a:r>
          </a:p>
        </p:txBody>
      </p:sp>
      <p:sp>
        <p:nvSpPr>
          <p:cNvPr id="26" name="rect 20"/>
          <p:cNvSpPr/>
          <p:nvPr/>
        </p:nvSpPr>
        <p:spPr>
          <a:xfrm>
            <a:off x="4737100" y="5435600"/>
            <a:ext cx="2768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正文负责理解，三元组负责找到</a:t>
            </a:r>
          </a:p>
        </p:txBody>
      </p:sp>
      <p:sp>
        <p:nvSpPr>
          <p:cNvPr id="27" name="roundRect 6"/>
          <p:cNvSpPr/>
          <p:nvPr/>
        </p:nvSpPr>
        <p:spPr>
          <a:xfrm>
            <a:off x="8051800" y="4191000"/>
            <a:ext cx="3314700" cy="1905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 21"/>
          <p:cNvSpPr/>
          <p:nvPr/>
        </p:nvSpPr>
        <p:spPr>
          <a:xfrm>
            <a:off x="8356600" y="4343400"/>
            <a:ext cx="5588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3000" b="1">
                <a:solidFill>
                  <a:srgbClr val="12B5A5"/>
                </a:solidFill>
                <a:latin typeface="PingFang SC"/>
                <a:ea typeface="Noto Sans SC"/>
              </a:rPr>
              <a:t>06</a:t>
            </a:r>
          </a:p>
        </p:txBody>
      </p:sp>
      <p:sp>
        <p:nvSpPr>
          <p:cNvPr id="29" name="rect 22"/>
          <p:cNvSpPr/>
          <p:nvPr/>
        </p:nvSpPr>
        <p:spPr>
          <a:xfrm>
            <a:off x="8356600" y="4953000"/>
            <a:ext cx="19685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2100" b="1">
                <a:solidFill>
                  <a:srgbClr val="1B2A41"/>
                </a:solidFill>
                <a:latin typeface="PingFang SC"/>
                <a:ea typeface="PingFang SC"/>
              </a:rPr>
              <a:t>读取通道与全景</a:t>
            </a:r>
          </a:p>
        </p:txBody>
      </p:sp>
      <p:sp>
        <p:nvSpPr>
          <p:cNvPr id="30" name="rect 23"/>
          <p:cNvSpPr/>
          <p:nvPr/>
        </p:nvSpPr>
        <p:spPr>
          <a:xfrm>
            <a:off x="8356600" y="5435600"/>
            <a:ext cx="1816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自动回忆与显式读写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762000"/>
            <a:ext cx="2260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HYPATIA · 非线性的记忆</a:t>
            </a:r>
          </a:p>
        </p:txBody>
      </p:sp>
      <p:sp>
        <p:nvSpPr>
          <p:cNvPr id="4" name="rect 3"/>
          <p:cNvSpPr/>
          <p:nvPr/>
        </p:nvSpPr>
        <p:spPr>
          <a:xfrm>
            <a:off x="762000" y="1295400"/>
            <a:ext cx="1765300" cy="1981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13000" b="1">
                <a:solidFill>
                  <a:srgbClr val="RGBA(47, 107, 255, 0.55)"/>
                </a:solidFill>
                <a:latin typeface="PingFang SC"/>
                <a:ea typeface="Noto Sans SC"/>
              </a:rPr>
              <a:t>01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3479800"/>
            <a:ext cx="26416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4000" b="1">
                <a:solidFill>
                  <a:srgbClr val="FFFFFF"/>
                </a:solidFill>
                <a:latin typeface="PingFang SC"/>
                <a:ea typeface="PingFang SC"/>
              </a:rPr>
              <a:t>线性的困境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4330700"/>
            <a:ext cx="4419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>
                <a:solidFill>
                  <a:srgbClr val="9FB4D8"/>
                </a:solidFill>
                <a:latin typeface="PingFang SC"/>
                <a:ea typeface="PingFang SC"/>
              </a:rPr>
              <a:t>对话天然是线性的——这正是问题所在</a:t>
            </a:r>
          </a:p>
        </p:txBody>
      </p:sp>
      <p:sp>
        <p:nvSpPr>
          <p:cNvPr id="7" name="ellipse 1"/>
          <p:cNvSpPr/>
          <p:nvPr/>
        </p:nvSpPr>
        <p:spPr>
          <a:xfrm>
            <a:off x="749300" y="6032500"/>
            <a:ext cx="127000" cy="1270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2"/>
          <p:cNvSpPr/>
          <p:nvPr/>
        </p:nvSpPr>
        <p:spPr>
          <a:xfrm>
            <a:off x="10541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 3"/>
          <p:cNvSpPr/>
          <p:nvPr/>
        </p:nvSpPr>
        <p:spPr>
          <a:xfrm>
            <a:off x="13589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 4"/>
          <p:cNvSpPr/>
          <p:nvPr/>
        </p:nvSpPr>
        <p:spPr>
          <a:xfrm>
            <a:off x="16637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 5"/>
          <p:cNvSpPr/>
          <p:nvPr/>
        </p:nvSpPr>
        <p:spPr>
          <a:xfrm>
            <a:off x="19685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 6"/>
          <p:cNvSpPr/>
          <p:nvPr/>
        </p:nvSpPr>
        <p:spPr>
          <a:xfrm>
            <a:off x="22733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147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01 · 线性的困境</a:t>
            </a:r>
          </a:p>
        </p:txBody>
      </p:sp>
      <p:sp>
        <p:nvSpPr>
          <p:cNvPr id="5" name="rect 4"/>
          <p:cNvSpPr/>
          <p:nvPr/>
        </p:nvSpPr>
        <p:spPr>
          <a:xfrm>
            <a:off x="10591800" y="673100"/>
            <a:ext cx="787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04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35560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对话天然是线性的</a:t>
            </a:r>
          </a:p>
        </p:txBody>
      </p:sp>
      <p:cxnSp>
        <p:nvCxnSpPr>
          <p:cNvPr id="7" name="line 1"/>
          <p:cNvCxnSpPr/>
          <p:nvPr/>
        </p:nvCxnSpPr>
        <p:spPr>
          <a:xfrm>
            <a:off x="1270000" y="3168650"/>
            <a:ext cx="9906000" cy="12700"/>
          </a:xfrm>
          <a:prstGeom prst="line">
            <a:avLst/>
          </a:prstGeom>
          <a:noFill/>
          <a:ln w="25400">
            <a:solidFill>
              <a:srgbClr val="D9E1EF"/>
            </a:solidFill>
          </a:ln>
        </p:spPr>
      </p:cxnSp>
      <p:sp>
        <p:nvSpPr>
          <p:cNvPr id="8" name="ellipse 1"/>
          <p:cNvSpPr/>
          <p:nvPr/>
        </p:nvSpPr>
        <p:spPr>
          <a:xfrm>
            <a:off x="1651000" y="3048000"/>
            <a:ext cx="254000" cy="2540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6"/>
          <p:cNvSpPr/>
          <p:nvPr/>
        </p:nvSpPr>
        <p:spPr>
          <a:xfrm>
            <a:off x="1447800" y="2603500"/>
            <a:ext cx="660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600">
                <a:solidFill>
                  <a:srgbClr val="3D4C66"/>
                </a:solidFill>
                <a:latin typeface="PingFang SC"/>
                <a:ea typeface="PingFang SC"/>
              </a:rPr>
              <a:t>轮次 1</a:t>
            </a:r>
          </a:p>
        </p:txBody>
      </p:sp>
      <p:sp>
        <p:nvSpPr>
          <p:cNvPr id="10" name="ellipse 2"/>
          <p:cNvSpPr/>
          <p:nvPr/>
        </p:nvSpPr>
        <p:spPr>
          <a:xfrm>
            <a:off x="3937000" y="3048000"/>
            <a:ext cx="254000" cy="2540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7"/>
          <p:cNvSpPr/>
          <p:nvPr/>
        </p:nvSpPr>
        <p:spPr>
          <a:xfrm>
            <a:off x="3714750" y="2603500"/>
            <a:ext cx="6985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600">
                <a:solidFill>
                  <a:srgbClr val="3D4C66"/>
                </a:solidFill>
                <a:latin typeface="PingFang SC"/>
                <a:ea typeface="PingFang SC"/>
              </a:rPr>
              <a:t>轮次 2</a:t>
            </a:r>
          </a:p>
        </p:txBody>
      </p:sp>
      <p:sp>
        <p:nvSpPr>
          <p:cNvPr id="12" name="ellipse 3"/>
          <p:cNvSpPr/>
          <p:nvPr/>
        </p:nvSpPr>
        <p:spPr>
          <a:xfrm>
            <a:off x="6223000" y="3048000"/>
            <a:ext cx="254000" cy="2540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8"/>
          <p:cNvSpPr/>
          <p:nvPr/>
        </p:nvSpPr>
        <p:spPr>
          <a:xfrm>
            <a:off x="6197600" y="2603500"/>
            <a:ext cx="304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600">
                <a:solidFill>
                  <a:srgbClr val="3D4C66"/>
                </a:solidFill>
                <a:latin typeface="PingFang SC"/>
                <a:ea typeface="Noto Sans SC"/>
              </a:rPr>
              <a:t>…</a:t>
            </a:r>
          </a:p>
        </p:txBody>
      </p:sp>
      <p:sp>
        <p:nvSpPr>
          <p:cNvPr id="14" name="ellipse 4"/>
          <p:cNvSpPr/>
          <p:nvPr/>
        </p:nvSpPr>
        <p:spPr>
          <a:xfrm>
            <a:off x="8509000" y="3048000"/>
            <a:ext cx="254000" cy="2540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9"/>
          <p:cNvSpPr/>
          <p:nvPr/>
        </p:nvSpPr>
        <p:spPr>
          <a:xfrm>
            <a:off x="8293100" y="2603500"/>
            <a:ext cx="685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600">
                <a:solidFill>
                  <a:srgbClr val="3D4C66"/>
                </a:solidFill>
                <a:latin typeface="PingFang SC"/>
                <a:ea typeface="PingFang SC"/>
              </a:rPr>
              <a:t>轮次 n</a:t>
            </a:r>
          </a:p>
        </p:txBody>
      </p:sp>
      <p:sp>
        <p:nvSpPr>
          <p:cNvPr id="16" name="ellipse 5"/>
          <p:cNvSpPr/>
          <p:nvPr/>
        </p:nvSpPr>
        <p:spPr>
          <a:xfrm>
            <a:off x="10769600" y="3022600"/>
            <a:ext cx="304800" cy="304800"/>
          </a:xfrm>
          <a:prstGeom prst="ellipse">
            <a:avLst/>
          </a:prstGeom>
          <a:solidFill>
            <a:srgbClr val="FAFBFD"/>
          </a:solidFill>
          <a:ln w="38100">
            <a:solidFill>
              <a:srgbClr val="F2A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0"/>
          <p:cNvSpPr/>
          <p:nvPr/>
        </p:nvSpPr>
        <p:spPr>
          <a:xfrm>
            <a:off x="10566400" y="2603500"/>
            <a:ext cx="711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600" b="1">
                <a:solidFill>
                  <a:srgbClr val="F2A93B"/>
                </a:solidFill>
                <a:latin typeface="PingFang SC"/>
                <a:ea typeface="PingFang SC"/>
              </a:rPr>
              <a:t>半年后</a:t>
            </a:r>
          </a:p>
        </p:txBody>
      </p:sp>
      <p:sp>
        <p:nvSpPr>
          <p:cNvPr id="18" name="roundRect 1"/>
          <p:cNvSpPr/>
          <p:nvPr/>
        </p:nvSpPr>
        <p:spPr>
          <a:xfrm>
            <a:off x="812800" y="4013200"/>
            <a:ext cx="5105400" cy="13970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1"/>
          <p:cNvSpPr/>
          <p:nvPr/>
        </p:nvSpPr>
        <p:spPr>
          <a:xfrm>
            <a:off x="812800" y="4013200"/>
            <a:ext cx="5105400" cy="508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12"/>
          <p:cNvSpPr/>
          <p:nvPr/>
        </p:nvSpPr>
        <p:spPr>
          <a:xfrm>
            <a:off x="1117600" y="4229100"/>
            <a:ext cx="25400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800" b="1">
                <a:solidFill>
                  <a:srgbClr val="12B5A5"/>
                </a:solidFill>
                <a:latin typeface="PingFang SC"/>
                <a:ea typeface="PingFang SC"/>
              </a:rPr>
              <a:t>Context Length 解决的</a:t>
            </a:r>
          </a:p>
        </p:txBody>
      </p:sp>
      <p:sp>
        <p:nvSpPr>
          <p:cNvPr id="21" name="rect 13"/>
          <p:cNvSpPr/>
          <p:nvPr/>
        </p:nvSpPr>
        <p:spPr>
          <a:xfrm>
            <a:off x="1117600" y="4673600"/>
            <a:ext cx="39878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读懂当前这一句——上下文沿时间轴展开</a:t>
            </a:r>
          </a:p>
        </p:txBody>
      </p:sp>
      <p:sp>
        <p:nvSpPr>
          <p:cNvPr id="22" name="roundRect 2"/>
          <p:cNvSpPr/>
          <p:nvPr/>
        </p:nvSpPr>
        <p:spPr>
          <a:xfrm>
            <a:off x="6273800" y="4013200"/>
            <a:ext cx="5105400" cy="13970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 14"/>
          <p:cNvSpPr/>
          <p:nvPr/>
        </p:nvSpPr>
        <p:spPr>
          <a:xfrm>
            <a:off x="6273800" y="4013200"/>
            <a:ext cx="5105400" cy="508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5"/>
          <p:cNvSpPr/>
          <p:nvPr/>
        </p:nvSpPr>
        <p:spPr>
          <a:xfrm>
            <a:off x="6578600" y="4229100"/>
            <a:ext cx="25400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800" b="1">
                <a:solidFill>
                  <a:srgbClr val="C98A20"/>
                </a:solidFill>
                <a:latin typeface="PingFang SC"/>
                <a:ea typeface="PingFang SC"/>
              </a:rPr>
              <a:t>Context Length 没碰的</a:t>
            </a:r>
          </a:p>
        </p:txBody>
      </p:sp>
      <p:sp>
        <p:nvSpPr>
          <p:cNvPr id="25" name="rect 16"/>
          <p:cNvSpPr/>
          <p:nvPr/>
        </p:nvSpPr>
        <p:spPr>
          <a:xfrm>
            <a:off x="6578600" y="4673600"/>
            <a:ext cx="46355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半年后还记得你说过什么——检索、理解、关联</a:t>
            </a:r>
          </a:p>
        </p:txBody>
      </p:sp>
      <p:sp>
        <p:nvSpPr>
          <p:cNvPr id="26" name="roundRect 3"/>
          <p:cNvSpPr/>
          <p:nvPr/>
        </p:nvSpPr>
        <p:spPr>
          <a:xfrm>
            <a:off x="812800" y="5740400"/>
            <a:ext cx="10566400" cy="660400"/>
          </a:xfrm>
          <a:prstGeom prst="roundRect">
            <a:avLst>
              <a:gd fmla="val 19231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 17"/>
          <p:cNvSpPr/>
          <p:nvPr/>
        </p:nvSpPr>
        <p:spPr>
          <a:xfrm>
            <a:off x="1327150" y="5918200"/>
            <a:ext cx="95377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700">
                <a:solidFill>
                  <a:srgbClr val="1B2A41"/>
                </a:solidFill>
                <a:latin typeface="PingFang SC"/>
                <a:ea typeface="PingFang SC"/>
              </a:rPr>
              <a:t>无限记忆的本质问题从来不是"能装下多少"，而是"装下的东西还能不能被找到、被理解、被关联"。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5276850" y="1663700"/>
            <a:ext cx="16383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800">
                <a:solidFill>
                  <a:srgbClr val="9FB4D8"/>
                </a:solidFill>
                <a:latin typeface="PingFang SC"/>
                <a:ea typeface="PingFang SC"/>
              </a:rPr>
              <a:t>hypatia 的答案</a:t>
            </a:r>
          </a:p>
        </p:txBody>
      </p:sp>
      <p:cxnSp>
        <p:nvCxnSpPr>
          <p:cNvPr id="4" name="line 1"/>
          <p:cNvCxnSpPr/>
          <p:nvPr/>
        </p:nvCxnSpPr>
        <p:spPr>
          <a:xfrm>
            <a:off x="5080000" y="2178050"/>
            <a:ext cx="2032000" cy="12700"/>
          </a:xfrm>
          <a:prstGeom prst="line">
            <a:avLst/>
          </a:prstGeom>
          <a:noFill/>
          <a:ln w="12700">
            <a:solidFill>
              <a:srgbClr val="2F3D5C"/>
            </a:solidFill>
          </a:ln>
        </p:spPr>
      </p:cxnSp>
      <p:sp>
        <p:nvSpPr>
          <p:cNvPr id="5" name="rect 3"/>
          <p:cNvSpPr/>
          <p:nvPr/>
        </p:nvSpPr>
        <p:spPr>
          <a:xfrm>
            <a:off x="3505200" y="2641600"/>
            <a:ext cx="51816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4000" b="1">
                <a:solidFill>
                  <a:srgbClr val="FFFFFF"/>
                </a:solidFill>
                <a:latin typeface="PingFang SC"/>
                <a:ea typeface="PingFang SC"/>
              </a:rPr>
              <a:t>不要试图保存对话本身</a:t>
            </a:r>
          </a:p>
        </p:txBody>
      </p:sp>
      <p:sp>
        <p:nvSpPr>
          <p:cNvPr id="6" name="rect 4"/>
          <p:cNvSpPr/>
          <p:nvPr/>
        </p:nvSpPr>
        <p:spPr>
          <a:xfrm>
            <a:off x="2489200" y="3479800"/>
            <a:ext cx="72136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4000" b="1">
                <a:solidFill>
                  <a:srgbClr val="FFFFFF"/>
                </a:solidFill>
                <a:latin typeface="PingFang SC"/>
                <a:ea typeface="PingFang SC"/>
              </a:rPr>
              <a:t>要保存对话中被整理出来的知识</a:t>
            </a:r>
          </a:p>
        </p:txBody>
      </p:sp>
      <p:sp>
        <p:nvSpPr>
          <p:cNvPr id="7" name="roundRect 1"/>
          <p:cNvSpPr/>
          <p:nvPr/>
        </p:nvSpPr>
        <p:spPr>
          <a:xfrm>
            <a:off x="3429000" y="4953000"/>
            <a:ext cx="1524000" cy="558800"/>
          </a:xfrm>
          <a:prstGeom prst="roundRect">
            <a:avLst>
              <a:gd fmla="val 50000" name="adj"/>
            </a:avLst>
          </a:prstGeom>
          <a:noFill/>
          <a:ln w="19050">
            <a:solidFill>
              <a:srgbClr val="2F6B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5"/>
          <p:cNvSpPr/>
          <p:nvPr/>
        </p:nvSpPr>
        <p:spPr>
          <a:xfrm>
            <a:off x="3911600" y="5067300"/>
            <a:ext cx="558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800">
                <a:solidFill>
                  <a:srgbClr val="9FB4D8"/>
                </a:solidFill>
                <a:latin typeface="PingFang SC"/>
                <a:ea typeface="PingFang SC"/>
              </a:rPr>
              <a:t>体积</a:t>
            </a:r>
          </a:p>
        </p:txBody>
      </p:sp>
      <p:sp>
        <p:nvSpPr>
          <p:cNvPr id="9" name="roundRect 2"/>
          <p:cNvSpPr/>
          <p:nvPr/>
        </p:nvSpPr>
        <p:spPr>
          <a:xfrm>
            <a:off x="5334000" y="4953000"/>
            <a:ext cx="1524000" cy="558800"/>
          </a:xfrm>
          <a:prstGeom prst="roundRect">
            <a:avLst>
              <a:gd fmla="val 50000" name="adj"/>
            </a:avLst>
          </a:prstGeom>
          <a:noFill/>
          <a:ln w="19050">
            <a:solidFill>
              <a:srgbClr val="12B5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6"/>
          <p:cNvSpPr/>
          <p:nvPr/>
        </p:nvSpPr>
        <p:spPr>
          <a:xfrm>
            <a:off x="5816600" y="5067300"/>
            <a:ext cx="558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800">
                <a:solidFill>
                  <a:srgbClr val="9FB4D8"/>
                </a:solidFill>
                <a:latin typeface="PingFang SC"/>
                <a:ea typeface="PingFang SC"/>
              </a:rPr>
              <a:t>检索</a:t>
            </a:r>
          </a:p>
        </p:txBody>
      </p:sp>
      <p:sp>
        <p:nvSpPr>
          <p:cNvPr id="11" name="roundRect 3"/>
          <p:cNvSpPr/>
          <p:nvPr/>
        </p:nvSpPr>
        <p:spPr>
          <a:xfrm>
            <a:off x="7239000" y="4953000"/>
            <a:ext cx="1524000" cy="558800"/>
          </a:xfrm>
          <a:prstGeom prst="roundRect">
            <a:avLst>
              <a:gd fmla="val 50000" name="adj"/>
            </a:avLst>
          </a:prstGeom>
          <a:noFill/>
          <a:ln w="19050">
            <a:solidFill>
              <a:srgbClr val="F2A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7"/>
          <p:cNvSpPr/>
          <p:nvPr/>
        </p:nvSpPr>
        <p:spPr>
          <a:xfrm>
            <a:off x="7721600" y="5067300"/>
            <a:ext cx="558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800">
                <a:solidFill>
                  <a:srgbClr val="9FB4D8"/>
                </a:solidFill>
                <a:latin typeface="PingFang SC"/>
                <a:ea typeface="PingFang SC"/>
              </a:rPr>
              <a:t>关联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762000"/>
            <a:ext cx="2260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HYPATIA · 非线性的记忆</a:t>
            </a:r>
          </a:p>
        </p:txBody>
      </p:sp>
      <p:sp>
        <p:nvSpPr>
          <p:cNvPr id="4" name="rect 3"/>
          <p:cNvSpPr/>
          <p:nvPr/>
        </p:nvSpPr>
        <p:spPr>
          <a:xfrm>
            <a:off x="762000" y="1295400"/>
            <a:ext cx="2082800" cy="1981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13000" b="1">
                <a:solidFill>
                  <a:srgbClr val="RGBA(47, 107, 255, 0.55)"/>
                </a:solidFill>
                <a:latin typeface="PingFang SC"/>
                <a:ea typeface="Noto Sans SC"/>
              </a:rPr>
              <a:t>02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3479800"/>
            <a:ext cx="52070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4000" b="1">
                <a:solidFill>
                  <a:srgbClr val="FFFFFF"/>
                </a:solidFill>
                <a:latin typeface="PingFang SC"/>
                <a:ea typeface="PingFang SC"/>
              </a:rPr>
              <a:t>Session 的识别与切分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4330700"/>
            <a:ext cx="45847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>
                <a:solidFill>
                  <a:srgbClr val="9FB4D8"/>
                </a:solidFill>
                <a:latin typeface="PingFang SC"/>
                <a:ea typeface="PingFang SC"/>
              </a:rPr>
              <a:t>整理之前，先回答"什么是一个 session"</a:t>
            </a:r>
          </a:p>
        </p:txBody>
      </p:sp>
      <p:sp>
        <p:nvSpPr>
          <p:cNvPr id="7" name="ellipse 1"/>
          <p:cNvSpPr/>
          <p:nvPr/>
        </p:nvSpPr>
        <p:spPr>
          <a:xfrm>
            <a:off x="7493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2"/>
          <p:cNvSpPr/>
          <p:nvPr/>
        </p:nvSpPr>
        <p:spPr>
          <a:xfrm>
            <a:off x="1054100" y="6032500"/>
            <a:ext cx="127000" cy="1270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 3"/>
          <p:cNvSpPr/>
          <p:nvPr/>
        </p:nvSpPr>
        <p:spPr>
          <a:xfrm>
            <a:off x="13589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 4"/>
          <p:cNvSpPr/>
          <p:nvPr/>
        </p:nvSpPr>
        <p:spPr>
          <a:xfrm>
            <a:off x="16637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 5"/>
          <p:cNvSpPr/>
          <p:nvPr/>
        </p:nvSpPr>
        <p:spPr>
          <a:xfrm>
            <a:off x="19685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 6"/>
          <p:cNvSpPr/>
          <p:nvPr/>
        </p:nvSpPr>
        <p:spPr>
          <a:xfrm>
            <a:off x="22733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1803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02 · SESSION 切分</a:t>
            </a:r>
          </a:p>
        </p:txBody>
      </p:sp>
      <p:sp>
        <p:nvSpPr>
          <p:cNvPr id="5" name="rect 4"/>
          <p:cNvSpPr/>
          <p:nvPr/>
        </p:nvSpPr>
        <p:spPr>
          <a:xfrm>
            <a:off x="10604500" y="673100"/>
            <a:ext cx="774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07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84201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拿物理边界直接当 session 定义，会很难看</a:t>
            </a:r>
          </a:p>
        </p:txBody>
      </p:sp>
      <p:sp>
        <p:nvSpPr>
          <p:cNvPr id="7" name="roundRect 1"/>
          <p:cNvSpPr/>
          <p:nvPr/>
        </p:nvSpPr>
        <p:spPr>
          <a:xfrm>
            <a:off x="812800" y="2032000"/>
            <a:ext cx="5105400" cy="254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1117600" y="2311400"/>
            <a:ext cx="7493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 b="1">
                <a:solidFill>
                  <a:srgbClr val="F2A93B"/>
                </a:solidFill>
                <a:latin typeface="PingFang SC"/>
                <a:ea typeface="PingFang SC"/>
              </a:rPr>
              <a:t>问题一</a:t>
            </a:r>
          </a:p>
        </p:txBody>
      </p:sp>
      <p:sp>
        <p:nvSpPr>
          <p:cNvPr id="9" name="rect 7"/>
          <p:cNvSpPr/>
          <p:nvPr/>
        </p:nvSpPr>
        <p:spPr>
          <a:xfrm>
            <a:off x="1117600" y="2794000"/>
            <a:ext cx="42037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900">
                <a:solidFill>
                  <a:srgbClr val="1B2A41"/>
                </a:solidFill>
                <a:latin typeface="PingFang SC"/>
                <a:ea typeface="PingFang SC"/>
              </a:rPr>
              <a:t>一次会话里，换了三个毫不相干的话题</a:t>
            </a:r>
          </a:p>
        </p:txBody>
      </p:sp>
      <p:sp>
        <p:nvSpPr>
          <p:cNvPr id="10" name="rect 8"/>
          <p:cNvSpPr/>
          <p:nvPr/>
        </p:nvSpPr>
        <p:spPr>
          <a:xfrm>
            <a:off x="1117600" y="3289300"/>
            <a:ext cx="3962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>
                <a:solidFill>
                  <a:srgbClr val="7A8AA3"/>
                </a:solidFill>
                <a:latin typeface="PingFang SC"/>
                <a:ea typeface="PingFang SC"/>
              </a:rPr>
              <a:t>框架层面：仍是同一个会话，没有边界信号</a:t>
            </a:r>
          </a:p>
        </p:txBody>
      </p:sp>
      <p:sp>
        <p:nvSpPr>
          <p:cNvPr id="11" name="rect 9"/>
          <p:cNvSpPr/>
          <p:nvPr/>
        </p:nvSpPr>
        <p:spPr>
          <a:xfrm>
            <a:off x="1117600" y="3619500"/>
            <a:ext cx="3556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>
                <a:solidFill>
                  <a:srgbClr val="7A8AA3"/>
                </a:solidFill>
                <a:latin typeface="PingFang SC"/>
                <a:ea typeface="PingFang SC"/>
              </a:rPr>
              <a:t>整理结果：一份混合了三个主题的摘要</a:t>
            </a:r>
          </a:p>
        </p:txBody>
      </p:sp>
      <p:sp>
        <p:nvSpPr>
          <p:cNvPr id="12" name="roundRect 2"/>
          <p:cNvSpPr/>
          <p:nvPr/>
        </p:nvSpPr>
        <p:spPr>
          <a:xfrm>
            <a:off x="6273800" y="2032000"/>
            <a:ext cx="5105400" cy="254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10"/>
          <p:cNvSpPr/>
          <p:nvPr/>
        </p:nvSpPr>
        <p:spPr>
          <a:xfrm>
            <a:off x="6578600" y="2311400"/>
            <a:ext cx="7493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 b="1">
                <a:solidFill>
                  <a:srgbClr val="F2A93B"/>
                </a:solidFill>
                <a:latin typeface="PingFang SC"/>
                <a:ea typeface="PingFang SC"/>
              </a:rPr>
              <a:t>问题二</a:t>
            </a:r>
          </a:p>
        </p:txBody>
      </p:sp>
      <p:sp>
        <p:nvSpPr>
          <p:cNvPr id="14" name="rect 11"/>
          <p:cNvSpPr/>
          <p:nvPr/>
        </p:nvSpPr>
        <p:spPr>
          <a:xfrm>
            <a:off x="6578600" y="2794000"/>
            <a:ext cx="39624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900">
                <a:solidFill>
                  <a:srgbClr val="1B2A41"/>
                </a:solidFill>
                <a:latin typeface="PingFang SC"/>
                <a:ea typeface="PingFang SC"/>
              </a:rPr>
              <a:t>同一个任务，横跨好几次会话的重启</a:t>
            </a:r>
          </a:p>
        </p:txBody>
      </p:sp>
      <p:sp>
        <p:nvSpPr>
          <p:cNvPr id="15" name="rect 12"/>
          <p:cNvSpPr/>
          <p:nvPr/>
        </p:nvSpPr>
        <p:spPr>
          <a:xfrm>
            <a:off x="6578600" y="3289300"/>
            <a:ext cx="3530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>
                <a:solidFill>
                  <a:srgbClr val="7A8AA3"/>
                </a:solidFill>
                <a:latin typeface="PingFang SC"/>
                <a:ea typeface="PingFang SC"/>
              </a:rPr>
              <a:t>框架层面：每个重启都是一次"新会话"</a:t>
            </a:r>
          </a:p>
        </p:txBody>
      </p:sp>
      <p:sp>
        <p:nvSpPr>
          <p:cNvPr id="16" name="rect 13"/>
          <p:cNvSpPr/>
          <p:nvPr/>
        </p:nvSpPr>
        <p:spPr>
          <a:xfrm>
            <a:off x="6578600" y="3619500"/>
            <a:ext cx="3352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>
                <a:solidFill>
                  <a:srgbClr val="7A8AA3"/>
                </a:solidFill>
                <a:latin typeface="PingFang SC"/>
                <a:ea typeface="PingFang SC"/>
              </a:rPr>
              <a:t>整理结果：一段完整叙事被切成碎片</a:t>
            </a:r>
          </a:p>
        </p:txBody>
      </p:sp>
      <p:sp>
        <p:nvSpPr>
          <p:cNvPr id="17" name="roundRect 3"/>
          <p:cNvSpPr/>
          <p:nvPr/>
        </p:nvSpPr>
        <p:spPr>
          <a:xfrm>
            <a:off x="812800" y="5080000"/>
            <a:ext cx="10566400" cy="1219200"/>
          </a:xfrm>
          <a:prstGeom prst="roundRect">
            <a:avLst>
              <a:gd fmla="val 10417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14"/>
          <p:cNvSpPr/>
          <p:nvPr/>
        </p:nvSpPr>
        <p:spPr>
          <a:xfrm>
            <a:off x="1117600" y="5308600"/>
            <a:ext cx="53467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 b="1">
                <a:solidFill>
                  <a:srgbClr val="1B2A41"/>
                </a:solidFill>
                <a:latin typeface="PingFang SC"/>
                <a:ea typeface="PingFang SC"/>
              </a:rPr>
              <a:t>物理边界（进程重启、新会话 ID）只是提示，而非定义</a:t>
            </a:r>
          </a:p>
        </p:txBody>
      </p:sp>
      <p:sp>
        <p:nvSpPr>
          <p:cNvPr id="19" name="rect 15"/>
          <p:cNvSpPr/>
          <p:nvPr/>
        </p:nvSpPr>
        <p:spPr>
          <a:xfrm>
            <a:off x="1117600" y="5727700"/>
            <a:ext cx="8636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>
                <a:solidFill>
                  <a:srgbClr val="3D4C66"/>
                </a:solidFill>
                <a:latin typeface="PingFang SC"/>
                <a:ea typeface="PingFang SC"/>
              </a:rPr>
              <a:t>碰到它时检查最近的内容是否已经收敛：收敛了就顺势切分，没收敛建议合并到下一段去处理。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1803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02 · SESSION 切分</a:t>
            </a:r>
          </a:p>
        </p:txBody>
      </p:sp>
      <p:sp>
        <p:nvSpPr>
          <p:cNvPr id="5" name="rect 4"/>
          <p:cNvSpPr/>
          <p:nvPr/>
        </p:nvSpPr>
        <p:spPr>
          <a:xfrm>
            <a:off x="10591800" y="673100"/>
            <a:ext cx="787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08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61468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切分靠语义信号，而非物理边界</a:t>
            </a:r>
          </a:p>
        </p:txBody>
      </p:sp>
      <p:sp>
        <p:nvSpPr>
          <p:cNvPr id="7" name="roundRect 1"/>
          <p:cNvSpPr/>
          <p:nvPr/>
        </p:nvSpPr>
        <p:spPr>
          <a:xfrm>
            <a:off x="812800" y="1981200"/>
            <a:ext cx="10566400" cy="13970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812800" y="1981200"/>
            <a:ext cx="76200" cy="13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7"/>
          <p:cNvSpPr/>
          <p:nvPr/>
        </p:nvSpPr>
        <p:spPr>
          <a:xfrm>
            <a:off x="1270000" y="2222500"/>
            <a:ext cx="19177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 b="1">
                <a:solidFill>
                  <a:srgbClr val="2F6BFF"/>
                </a:solidFill>
                <a:latin typeface="PingFang SC"/>
                <a:ea typeface="PingFang SC"/>
              </a:rPr>
              <a:t>最强 · 话题切换</a:t>
            </a:r>
          </a:p>
        </p:txBody>
      </p:sp>
      <p:sp>
        <p:nvSpPr>
          <p:cNvPr id="10" name="rect 8"/>
          <p:cNvSpPr/>
          <p:nvPr/>
        </p:nvSpPr>
        <p:spPr>
          <a:xfrm>
            <a:off x="1270000" y="2743200"/>
            <a:ext cx="83439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窗口内的讨论从 sqlite 存储跳到集群运维——无论框架层面是否同一会话，切成两段。</a:t>
            </a:r>
          </a:p>
        </p:txBody>
      </p:sp>
      <p:sp>
        <p:nvSpPr>
          <p:cNvPr id="11" name="roundRect 2"/>
          <p:cNvSpPr/>
          <p:nvPr/>
        </p:nvSpPr>
        <p:spPr>
          <a:xfrm>
            <a:off x="812800" y="3581400"/>
            <a:ext cx="10566400" cy="13970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9"/>
          <p:cNvSpPr/>
          <p:nvPr/>
        </p:nvSpPr>
        <p:spPr>
          <a:xfrm>
            <a:off x="812800" y="3581400"/>
            <a:ext cx="76200" cy="13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10"/>
          <p:cNvSpPr/>
          <p:nvPr/>
        </p:nvSpPr>
        <p:spPr>
          <a:xfrm>
            <a:off x="1270000" y="3822700"/>
            <a:ext cx="19177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 b="1">
                <a:solidFill>
                  <a:srgbClr val="12B5A5"/>
                </a:solidFill>
                <a:latin typeface="PingFang SC"/>
                <a:ea typeface="PingFang SC"/>
              </a:rPr>
              <a:t>次强 · 任务边界</a:t>
            </a:r>
          </a:p>
        </p:txBody>
      </p:sp>
      <p:sp>
        <p:nvSpPr>
          <p:cNvPr id="14" name="rect 11"/>
          <p:cNvSpPr/>
          <p:nvPr/>
        </p:nvSpPr>
        <p:spPr>
          <a:xfrm>
            <a:off x="1270000" y="4343400"/>
            <a:ext cx="80772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一个明确的交付完成（代码合入、文档写完、问题被解决）= 一段叙事的自然终结。</a:t>
            </a:r>
          </a:p>
        </p:txBody>
      </p:sp>
      <p:sp>
        <p:nvSpPr>
          <p:cNvPr id="15" name="roundRect 3"/>
          <p:cNvSpPr/>
          <p:nvPr/>
        </p:nvSpPr>
        <p:spPr>
          <a:xfrm>
            <a:off x="812800" y="5181600"/>
            <a:ext cx="10566400" cy="13970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2"/>
          <p:cNvSpPr/>
          <p:nvPr/>
        </p:nvSpPr>
        <p:spPr>
          <a:xfrm>
            <a:off x="812800" y="5181600"/>
            <a:ext cx="76200" cy="13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3"/>
          <p:cNvSpPr/>
          <p:nvPr/>
        </p:nvSpPr>
        <p:spPr>
          <a:xfrm>
            <a:off x="1270000" y="5422900"/>
            <a:ext cx="19177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 b="1">
                <a:solidFill>
                  <a:srgbClr val="C98A20"/>
                </a:solidFill>
                <a:latin typeface="PingFang SC"/>
                <a:ea typeface="PingFang SC"/>
              </a:rPr>
              <a:t>最弱 · 时间间隔</a:t>
            </a:r>
          </a:p>
        </p:txBody>
      </p:sp>
      <p:sp>
        <p:nvSpPr>
          <p:cNvPr id="18" name="rect 14"/>
          <p:cNvSpPr/>
          <p:nvPr/>
        </p:nvSpPr>
        <p:spPr>
          <a:xfrm>
            <a:off x="1270000" y="5943600"/>
            <a:ext cx="72263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中断了一夜之后的继续——即使上下文还连着，也值得检查是否应该切开。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762000"/>
            <a:ext cx="24130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02 · SESSION 切分 · 准则</a:t>
            </a:r>
          </a:p>
        </p:txBody>
      </p:sp>
      <p:sp>
        <p:nvSpPr>
          <p:cNvPr id="4" name="rect 3"/>
          <p:cNvSpPr/>
          <p:nvPr/>
        </p:nvSpPr>
        <p:spPr>
          <a:xfrm>
            <a:off x="3397250" y="1701800"/>
            <a:ext cx="53975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3400" b="1">
                <a:solidFill>
                  <a:srgbClr val="FFFFFF"/>
                </a:solidFill>
                <a:latin typeface="PingFang SC"/>
                <a:ea typeface="PingFang SC"/>
              </a:rPr>
              <a:t>一个 session 应该恰好容纳</a:t>
            </a:r>
          </a:p>
        </p:txBody>
      </p:sp>
      <p:sp>
        <p:nvSpPr>
          <p:cNvPr id="5" name="rect 4"/>
          <p:cNvSpPr/>
          <p:nvPr/>
        </p:nvSpPr>
        <p:spPr>
          <a:xfrm>
            <a:off x="3670300" y="2336800"/>
            <a:ext cx="48514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3400" b="1">
                <a:solidFill>
                  <a:srgbClr val="FFFFFF"/>
                </a:solidFill>
                <a:latin typeface="PingFang SC"/>
                <a:ea typeface="PingFang SC"/>
              </a:rPr>
              <a:t>一个可以独立陈述的主题</a:t>
            </a:r>
          </a:p>
        </p:txBody>
      </p:sp>
      <p:sp>
        <p:nvSpPr>
          <p:cNvPr id="6" name="roundRect 1"/>
          <p:cNvSpPr/>
          <p:nvPr/>
        </p:nvSpPr>
        <p:spPr>
          <a:xfrm>
            <a:off x="2032000" y="3454400"/>
            <a:ext cx="3810000" cy="812800"/>
          </a:xfrm>
          <a:prstGeom prst="roundRect">
            <a:avLst>
              <a:gd fmla="val 15625" name="adj"/>
            </a:avLst>
          </a:prstGeom>
          <a:solidFill>
            <a:srgbClr val="1D3357"/>
          </a:solidFill>
          <a:ln w="12700">
            <a:solidFill>
              <a:srgbClr val="2F6B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2400300" y="3695700"/>
            <a:ext cx="30734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800">
                <a:solidFill>
                  <a:srgbClr val="C9D6EC"/>
                </a:solidFill>
                <a:latin typeface="PingFang SC"/>
                <a:ea typeface="PingFang SC"/>
              </a:rPr>
              <a:t>小到摘要时不必丢弃异质信息</a:t>
            </a:r>
          </a:p>
        </p:txBody>
      </p:sp>
      <p:sp>
        <p:nvSpPr>
          <p:cNvPr id="8" name="roundRect 2"/>
          <p:cNvSpPr/>
          <p:nvPr/>
        </p:nvSpPr>
        <p:spPr>
          <a:xfrm>
            <a:off x="6350000" y="3454400"/>
            <a:ext cx="3810000" cy="812800"/>
          </a:xfrm>
          <a:prstGeom prst="roundRect">
            <a:avLst>
              <a:gd fmla="val 15625" name="adj"/>
            </a:avLst>
          </a:prstGeom>
          <a:solidFill>
            <a:srgbClr val="1D3357"/>
          </a:solidFill>
          <a:ln w="12700">
            <a:solidFill>
              <a:srgbClr val="12B5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6"/>
          <p:cNvSpPr/>
          <p:nvPr/>
        </p:nvSpPr>
        <p:spPr>
          <a:xfrm>
            <a:off x="6489700" y="3695700"/>
            <a:ext cx="35306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800">
                <a:solidFill>
                  <a:srgbClr val="C9D6EC"/>
                </a:solidFill>
                <a:latin typeface="PingFang SC"/>
                <a:ea typeface="PingFang SC"/>
              </a:rPr>
              <a:t>大到滑动窗口有空间等待话题收敛</a:t>
            </a:r>
          </a:p>
        </p:txBody>
      </p:sp>
      <p:sp>
        <p:nvSpPr>
          <p:cNvPr id="10" name="rect 7"/>
          <p:cNvSpPr/>
          <p:nvPr/>
        </p:nvSpPr>
        <p:spPr>
          <a:xfrm>
            <a:off x="1879600" y="4991100"/>
            <a:ext cx="8432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600">
                <a:solidFill>
                  <a:srgbClr val="9FB4D8"/>
                </a:solidFill>
                <a:latin typeface="PingFang SC"/>
                <a:ea typeface="PingFang SC"/>
              </a:rPr>
              <a:t>切分不追求一次定终身——低层原文总在，切错的边界在更高层归档时还有机会被重新缝合。</a:t>
            </a:r>
          </a:p>
        </p:txBody>
      </p:sp>
      <p:sp>
        <p:nvSpPr>
          <p:cNvPr id="11" name="rect 8"/>
          <p:cNvSpPr/>
          <p:nvPr/>
        </p:nvSpPr>
        <p:spPr>
          <a:xfrm>
            <a:off x="3911600" y="5422900"/>
            <a:ext cx="4368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600">
                <a:solidFill>
                  <a:srgbClr val="9FB4D8"/>
                </a:solidFill>
                <a:latin typeface="PingFang SC"/>
                <a:ea typeface="PingFang SC"/>
              </a:rPr>
              <a:t>识别错误是可修复的，不识别才是不可修复的。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762000"/>
            <a:ext cx="2260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HYPATIA · 非线性的记忆</a:t>
            </a:r>
          </a:p>
        </p:txBody>
      </p:sp>
      <p:sp>
        <p:nvSpPr>
          <p:cNvPr id="4" name="rect 3"/>
          <p:cNvSpPr/>
          <p:nvPr/>
        </p:nvSpPr>
        <p:spPr>
          <a:xfrm>
            <a:off x="762000" y="1295400"/>
            <a:ext cx="2082800" cy="1981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13000" b="1">
                <a:solidFill>
                  <a:srgbClr val="RGBA(47, 107, 255, 0.55)"/>
                </a:solidFill>
                <a:latin typeface="PingFang SC"/>
                <a:ea typeface="Noto Sans SC"/>
              </a:rPr>
              <a:t>03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3479800"/>
            <a:ext cx="71501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4000" b="1">
                <a:solidFill>
                  <a:srgbClr val="FFFFFF"/>
                </a:solidFill>
                <a:latin typeface="PingFang SC"/>
                <a:ea typeface="PingFang SC"/>
              </a:rPr>
              <a:t>对数空间的 Session Summary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4330700"/>
            <a:ext cx="8737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>
                <a:solidFill>
                  <a:srgbClr val="9FB4D8"/>
                </a:solidFill>
                <a:latin typeface="PingFang SC"/>
                <a:ea typeface="PingFang SC"/>
              </a:rPr>
              <a:t>线性记录的第一问题是体积——如果一个摘要和原对话一样长，它就毫无意义</a:t>
            </a:r>
          </a:p>
        </p:txBody>
      </p:sp>
      <p:sp>
        <p:nvSpPr>
          <p:cNvPr id="7" name="ellipse 1"/>
          <p:cNvSpPr/>
          <p:nvPr/>
        </p:nvSpPr>
        <p:spPr>
          <a:xfrm>
            <a:off x="7493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2"/>
          <p:cNvSpPr/>
          <p:nvPr/>
        </p:nvSpPr>
        <p:spPr>
          <a:xfrm>
            <a:off x="10541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 3"/>
          <p:cNvSpPr/>
          <p:nvPr/>
        </p:nvSpPr>
        <p:spPr>
          <a:xfrm>
            <a:off x="1358900" y="6032500"/>
            <a:ext cx="127000" cy="1270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 4"/>
          <p:cNvSpPr/>
          <p:nvPr/>
        </p:nvSpPr>
        <p:spPr>
          <a:xfrm>
            <a:off x="16637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 5"/>
          <p:cNvSpPr/>
          <p:nvPr/>
        </p:nvSpPr>
        <p:spPr>
          <a:xfrm>
            <a:off x="19685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 6"/>
          <p:cNvSpPr/>
          <p:nvPr/>
        </p:nvSpPr>
        <p:spPr>
          <a:xfrm>
            <a:off x="22733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1892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03 · 对数空间的摘要</a:t>
            </a:r>
          </a:p>
        </p:txBody>
      </p:sp>
      <p:sp>
        <p:nvSpPr>
          <p:cNvPr id="5" name="rect 4"/>
          <p:cNvSpPr/>
          <p:nvPr/>
        </p:nvSpPr>
        <p:spPr>
          <a:xfrm>
            <a:off x="10668000" y="673100"/>
            <a:ext cx="711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11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65913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朴素的目标：log₁₆(n) 的空间代价</a:t>
            </a:r>
          </a:p>
        </p:txBody>
      </p:sp>
      <p:sp>
        <p:nvSpPr>
          <p:cNvPr id="7" name="rect 6"/>
          <p:cNvSpPr/>
          <p:nvPr/>
        </p:nvSpPr>
        <p:spPr>
          <a:xfrm>
            <a:off x="812800" y="2844800"/>
            <a:ext cx="2260600" cy="1092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7200" b="1">
                <a:solidFill>
                  <a:srgbClr val="2F6BFF"/>
                </a:solidFill>
                <a:latin typeface="PingFang SC"/>
                <a:ea typeface="Noto Sans SC"/>
              </a:rPr>
              <a:t>16 : 1</a:t>
            </a:r>
          </a:p>
        </p:txBody>
      </p:sp>
      <p:sp>
        <p:nvSpPr>
          <p:cNvPr id="8" name="rect 7"/>
          <p:cNvSpPr/>
          <p:nvPr/>
        </p:nvSpPr>
        <p:spPr>
          <a:xfrm>
            <a:off x="812800" y="4089400"/>
            <a:ext cx="24765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7A8AA3"/>
                </a:solidFill>
                <a:latin typeface="PingFang SC"/>
                <a:ea typeface="PingFang SC"/>
              </a:rPr>
              <a:t>每上升一层，压缩十六倍</a:t>
            </a:r>
          </a:p>
        </p:txBody>
      </p:sp>
      <p:sp>
        <p:nvSpPr>
          <p:cNvPr id="9" name="roundRect 1"/>
          <p:cNvSpPr/>
          <p:nvPr/>
        </p:nvSpPr>
        <p:spPr>
          <a:xfrm>
            <a:off x="4191000" y="2489200"/>
            <a:ext cx="6096000" cy="558800"/>
          </a:xfrm>
          <a:prstGeom prst="roundRect">
            <a:avLst>
              <a:gd fmla="val 18182" name="adj"/>
            </a:avLst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8"/>
          <p:cNvSpPr/>
          <p:nvPr/>
        </p:nvSpPr>
        <p:spPr>
          <a:xfrm>
            <a:off x="4495800" y="2616200"/>
            <a:ext cx="16129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FFFFFF"/>
                </a:solidFill>
                <a:latin typeface="PingFang SC"/>
                <a:ea typeface="PingFang SC"/>
              </a:rPr>
              <a:t>十六份原始对话</a:t>
            </a:r>
          </a:p>
        </p:txBody>
      </p:sp>
      <p:sp>
        <p:nvSpPr>
          <p:cNvPr id="11" name="roundRect 2"/>
          <p:cNvSpPr/>
          <p:nvPr/>
        </p:nvSpPr>
        <p:spPr>
          <a:xfrm>
            <a:off x="4191000" y="3251200"/>
            <a:ext cx="3810000" cy="558800"/>
          </a:xfrm>
          <a:prstGeom prst="roundRect">
            <a:avLst>
              <a:gd fmla="val 18182" name="adj"/>
            </a:avLst>
          </a:prstGeom>
          <a:solidFill>
            <a:srgbClr val="12B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9"/>
          <p:cNvSpPr/>
          <p:nvPr/>
        </p:nvSpPr>
        <p:spPr>
          <a:xfrm>
            <a:off x="4495800" y="3378200"/>
            <a:ext cx="20447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FFFFFF"/>
                </a:solidFill>
                <a:latin typeface="PingFang SC"/>
                <a:ea typeface="PingFang SC"/>
              </a:rPr>
              <a:t>一份量级相当的摘要</a:t>
            </a:r>
          </a:p>
        </p:txBody>
      </p:sp>
      <p:sp>
        <p:nvSpPr>
          <p:cNvPr id="13" name="roundRect 3"/>
          <p:cNvSpPr/>
          <p:nvPr/>
        </p:nvSpPr>
        <p:spPr>
          <a:xfrm>
            <a:off x="4191000" y="4013200"/>
            <a:ext cx="2413000" cy="558800"/>
          </a:xfrm>
          <a:prstGeom prst="roundRect">
            <a:avLst>
              <a:gd fmla="val 18182" name="adj"/>
            </a:avLst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 10"/>
          <p:cNvSpPr/>
          <p:nvPr/>
        </p:nvSpPr>
        <p:spPr>
          <a:xfrm>
            <a:off x="6756400" y="4140200"/>
            <a:ext cx="30480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十六份摘要 → 一份更高层摘要</a:t>
            </a:r>
          </a:p>
        </p:txBody>
      </p:sp>
      <p:sp>
        <p:nvSpPr>
          <p:cNvPr id="15" name="roundRect 4"/>
          <p:cNvSpPr/>
          <p:nvPr/>
        </p:nvSpPr>
        <p:spPr>
          <a:xfrm>
            <a:off x="812800" y="5334000"/>
            <a:ext cx="10566400" cy="711200"/>
          </a:xfrm>
          <a:prstGeom prst="roundRect">
            <a:avLst>
              <a:gd fmla="val 17857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1"/>
          <p:cNvSpPr/>
          <p:nvPr/>
        </p:nvSpPr>
        <p:spPr>
          <a:xfrm>
            <a:off x="3130550" y="5537200"/>
            <a:ext cx="59309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700">
                <a:solidFill>
                  <a:srgbClr val="1B2A41"/>
                </a:solidFill>
                <a:latin typeface="PingFang SC"/>
                <a:ea typeface="PingFang SC"/>
              </a:rPr>
              <a:t>每上升一层压缩十六倍；被压缩的是叙事和过程，不是结论。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1892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03 · 对数空间的摘要</a:t>
            </a:r>
          </a:p>
        </p:txBody>
      </p:sp>
      <p:sp>
        <p:nvSpPr>
          <p:cNvPr id="5" name="rect 4"/>
          <p:cNvSpPr/>
          <p:nvPr/>
        </p:nvSpPr>
        <p:spPr>
          <a:xfrm>
            <a:off x="10629900" y="673100"/>
            <a:ext cx="749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12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71628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分层归档，本质上和 B 树的逻辑一样</a:t>
            </a:r>
          </a:p>
        </p:txBody>
      </p:sp>
      <p:sp>
        <p:nvSpPr>
          <p:cNvPr id="7" name="roundRect 1"/>
          <p:cNvSpPr/>
          <p:nvPr/>
        </p:nvSpPr>
        <p:spPr>
          <a:xfrm>
            <a:off x="1270000" y="2159000"/>
            <a:ext cx="3556000" cy="812800"/>
          </a:xfrm>
          <a:prstGeom prst="roundRect">
            <a:avLst>
              <a:gd fmla="val 15625" name="adj"/>
            </a:avLst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1797050" y="2400300"/>
            <a:ext cx="25019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800">
                <a:solidFill>
                  <a:srgbClr val="FFFFFF"/>
                </a:solidFill>
                <a:latin typeface="PingFang SC"/>
                <a:ea typeface="PingFang SC"/>
              </a:rPr>
              <a:t>L2 主题摘要（最稀疏）</a:t>
            </a:r>
          </a:p>
        </p:txBody>
      </p:sp>
      <p:cxnSp>
        <p:nvCxnSpPr>
          <p:cNvPr id="9" name="line 1"/>
          <p:cNvCxnSpPr/>
          <p:nvPr/>
        </p:nvCxnSpPr>
        <p:spPr>
          <a:xfrm>
            <a:off x="3041650" y="2971800"/>
            <a:ext cx="12700" cy="3556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10" name="rect 7"/>
          <p:cNvSpPr/>
          <p:nvPr/>
        </p:nvSpPr>
        <p:spPr>
          <a:xfrm>
            <a:off x="3200400" y="3035300"/>
            <a:ext cx="520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en-US" sz="1400">
                <a:solidFill>
                  <a:srgbClr val="7A8AA3"/>
                </a:solidFill>
                <a:latin typeface="PingFang SC"/>
                <a:ea typeface="Noto Sans SC"/>
              </a:rPr>
              <a:t>16 : 1</a:t>
            </a:r>
          </a:p>
        </p:txBody>
      </p:sp>
      <p:sp>
        <p:nvSpPr>
          <p:cNvPr id="11" name="roundRect 2"/>
          <p:cNvSpPr/>
          <p:nvPr/>
        </p:nvSpPr>
        <p:spPr>
          <a:xfrm>
            <a:off x="889000" y="3327400"/>
            <a:ext cx="4318000" cy="812800"/>
          </a:xfrm>
          <a:prstGeom prst="roundRect">
            <a:avLst>
              <a:gd fmla="val 15625" name="adj"/>
            </a:avLst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8"/>
          <p:cNvSpPr/>
          <p:nvPr/>
        </p:nvSpPr>
        <p:spPr>
          <a:xfrm>
            <a:off x="2387600" y="3568700"/>
            <a:ext cx="1320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800">
                <a:solidFill>
                  <a:srgbClr val="FFFFFF"/>
                </a:solidFill>
                <a:latin typeface="PingFang SC"/>
                <a:ea typeface="PingFang SC"/>
              </a:rPr>
              <a:t>L1 会话摘要</a:t>
            </a:r>
          </a:p>
        </p:txBody>
      </p:sp>
      <p:cxnSp>
        <p:nvCxnSpPr>
          <p:cNvPr id="13" name="line 2"/>
          <p:cNvCxnSpPr/>
          <p:nvPr/>
        </p:nvCxnSpPr>
        <p:spPr>
          <a:xfrm>
            <a:off x="3041650" y="4140200"/>
            <a:ext cx="12700" cy="3556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14" name="rect 9"/>
          <p:cNvSpPr/>
          <p:nvPr/>
        </p:nvSpPr>
        <p:spPr>
          <a:xfrm>
            <a:off x="3200400" y="4203700"/>
            <a:ext cx="520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en-US" sz="1400">
                <a:solidFill>
                  <a:srgbClr val="7A8AA3"/>
                </a:solidFill>
                <a:latin typeface="PingFang SC"/>
                <a:ea typeface="Noto Sans SC"/>
              </a:rPr>
              <a:t>16 : 1</a:t>
            </a:r>
          </a:p>
        </p:txBody>
      </p:sp>
      <p:sp>
        <p:nvSpPr>
          <p:cNvPr id="15" name="roundRect 3"/>
          <p:cNvSpPr/>
          <p:nvPr/>
        </p:nvSpPr>
        <p:spPr>
          <a:xfrm>
            <a:off x="508000" y="4495800"/>
            <a:ext cx="5080000" cy="812800"/>
          </a:xfrm>
          <a:prstGeom prst="roundRect">
            <a:avLst>
              <a:gd fmla="val 15625" name="adj"/>
            </a:avLst>
          </a:prstGeom>
          <a:solidFill>
            <a:srgbClr val="12B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0"/>
          <p:cNvSpPr/>
          <p:nvPr/>
        </p:nvSpPr>
        <p:spPr>
          <a:xfrm>
            <a:off x="1454150" y="4737100"/>
            <a:ext cx="31877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800">
                <a:solidFill>
                  <a:srgbClr val="FFFFFF"/>
                </a:solidFill>
                <a:latin typeface="PingFang SC"/>
                <a:ea typeface="PingFang SC"/>
              </a:rPr>
              <a:t>L0 原始对话（冷存，不删除）</a:t>
            </a:r>
          </a:p>
        </p:txBody>
      </p:sp>
      <p:sp>
        <p:nvSpPr>
          <p:cNvPr id="17" name="roundRect 4"/>
          <p:cNvSpPr/>
          <p:nvPr/>
        </p:nvSpPr>
        <p:spPr>
          <a:xfrm>
            <a:off x="6604000" y="2159000"/>
            <a:ext cx="4775200" cy="111760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11"/>
          <p:cNvSpPr/>
          <p:nvPr/>
        </p:nvSpPr>
        <p:spPr>
          <a:xfrm>
            <a:off x="6908800" y="2336800"/>
            <a:ext cx="11811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 b="1">
                <a:solidFill>
                  <a:srgbClr val="2F6BFF"/>
                </a:solidFill>
                <a:latin typeface="PingFang SC"/>
                <a:ea typeface="PingFang SC"/>
              </a:rPr>
              <a:t>B 树的逻辑</a:t>
            </a:r>
          </a:p>
        </p:txBody>
      </p:sp>
      <p:sp>
        <p:nvSpPr>
          <p:cNvPr id="19" name="rect 12"/>
          <p:cNvSpPr/>
          <p:nvPr/>
        </p:nvSpPr>
        <p:spPr>
          <a:xfrm>
            <a:off x="6908800" y="2692400"/>
            <a:ext cx="3060700" cy="558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你不指望根节点存住所有数据，</a:t>
            </a:r>
          </a:p>
          <a:p>
            <a:pPr>
              <a:lnSpc>
                <a:spcPct val="105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你指望的是从根出发总能找到数据</a:t>
            </a:r>
          </a:p>
        </p:txBody>
      </p:sp>
      <p:sp>
        <p:nvSpPr>
          <p:cNvPr id="20" name="roundRect 5"/>
          <p:cNvSpPr/>
          <p:nvPr/>
        </p:nvSpPr>
        <p:spPr>
          <a:xfrm>
            <a:off x="6604000" y="3479800"/>
            <a:ext cx="4775200" cy="111760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3"/>
          <p:cNvSpPr/>
          <p:nvPr/>
        </p:nvSpPr>
        <p:spPr>
          <a:xfrm>
            <a:off x="6908800" y="3657600"/>
            <a:ext cx="22606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 b="1">
                <a:solidFill>
                  <a:srgbClr val="12B5A5"/>
                </a:solidFill>
                <a:latin typeface="PingFang SC"/>
                <a:ea typeface="PingFang SC"/>
              </a:rPr>
              <a:t>损失在边缘，而非坍塌</a:t>
            </a:r>
          </a:p>
        </p:txBody>
      </p:sp>
      <p:sp>
        <p:nvSpPr>
          <p:cNvPr id="22" name="rect 14"/>
          <p:cNvSpPr/>
          <p:nvPr/>
        </p:nvSpPr>
        <p:spPr>
          <a:xfrm>
            <a:off x="6908800" y="4013200"/>
            <a:ext cx="2857500" cy="558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一次性压缩的信息损失不可控；</a:t>
            </a:r>
          </a:p>
          <a:p>
            <a:pPr>
              <a:lnSpc>
                <a:spcPct val="105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分层让损失发生在每一层的边缘</a:t>
            </a:r>
          </a:p>
        </p:txBody>
      </p:sp>
      <p:sp>
        <p:nvSpPr>
          <p:cNvPr id="23" name="roundRect 6"/>
          <p:cNvSpPr/>
          <p:nvPr/>
        </p:nvSpPr>
        <p:spPr>
          <a:xfrm>
            <a:off x="6604000" y="4800600"/>
            <a:ext cx="4775200" cy="111760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5"/>
          <p:cNvSpPr/>
          <p:nvPr/>
        </p:nvSpPr>
        <p:spPr>
          <a:xfrm>
            <a:off x="6908800" y="4978400"/>
            <a:ext cx="9652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 b="1">
                <a:solidFill>
                  <a:srgbClr val="F2A93B"/>
                </a:solidFill>
                <a:latin typeface="PingFang SC"/>
                <a:ea typeface="PingFang SC"/>
              </a:rPr>
              <a:t>下钻回溯</a:t>
            </a:r>
          </a:p>
        </p:txBody>
      </p:sp>
      <p:sp>
        <p:nvSpPr>
          <p:cNvPr id="25" name="rect 16"/>
          <p:cNvSpPr/>
          <p:nvPr/>
        </p:nvSpPr>
        <p:spPr>
          <a:xfrm>
            <a:off x="6908800" y="5334000"/>
            <a:ext cx="2857500" cy="558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从高层摘要逐层向下精确回溯，</a:t>
            </a:r>
          </a:p>
          <a:p>
            <a:pPr>
              <a:lnSpc>
                <a:spcPct val="105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每下一层多一次检索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762000"/>
            <a:ext cx="2260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HYPATIA · 非线性的记忆</a:t>
            </a:r>
          </a:p>
        </p:txBody>
      </p:sp>
      <p:sp>
        <p:nvSpPr>
          <p:cNvPr id="4" name="rect 3"/>
          <p:cNvSpPr/>
          <p:nvPr/>
        </p:nvSpPr>
        <p:spPr>
          <a:xfrm>
            <a:off x="762000" y="1295400"/>
            <a:ext cx="2082800" cy="1981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13000" b="1">
                <a:solidFill>
                  <a:srgbClr val="RGBA(47, 107, 255, 0.55)"/>
                </a:solidFill>
                <a:latin typeface="PingFang SC"/>
                <a:ea typeface="Noto Sans SC"/>
              </a:rPr>
              <a:t>04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3479800"/>
            <a:ext cx="56896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4000" b="1">
                <a:solidFill>
                  <a:srgbClr val="FFFFFF"/>
                </a:solidFill>
                <a:latin typeface="PingFang SC"/>
                <a:ea typeface="PingFang SC"/>
              </a:rPr>
              <a:t>滑动窗口与知识点的梳理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4330700"/>
            <a:ext cx="3149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>
                <a:solidFill>
                  <a:srgbClr val="9FB4D8"/>
                </a:solidFill>
                <a:latin typeface="PingFang SC"/>
                <a:ea typeface="PingFang SC"/>
              </a:rPr>
              <a:t>压缩之外，更关键的是抽取</a:t>
            </a:r>
          </a:p>
        </p:txBody>
      </p:sp>
      <p:sp>
        <p:nvSpPr>
          <p:cNvPr id="7" name="ellipse 1"/>
          <p:cNvSpPr/>
          <p:nvPr/>
        </p:nvSpPr>
        <p:spPr>
          <a:xfrm>
            <a:off x="7493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2"/>
          <p:cNvSpPr/>
          <p:nvPr/>
        </p:nvSpPr>
        <p:spPr>
          <a:xfrm>
            <a:off x="10541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 3"/>
          <p:cNvSpPr/>
          <p:nvPr/>
        </p:nvSpPr>
        <p:spPr>
          <a:xfrm>
            <a:off x="13589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 4"/>
          <p:cNvSpPr/>
          <p:nvPr/>
        </p:nvSpPr>
        <p:spPr>
          <a:xfrm>
            <a:off x="1663700" y="6032500"/>
            <a:ext cx="127000" cy="1270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 5"/>
          <p:cNvSpPr/>
          <p:nvPr/>
        </p:nvSpPr>
        <p:spPr>
          <a:xfrm>
            <a:off x="19685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 6"/>
          <p:cNvSpPr/>
          <p:nvPr/>
        </p:nvSpPr>
        <p:spPr>
          <a:xfrm>
            <a:off x="22733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13208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04 · 滑动窗口</a:t>
            </a:r>
          </a:p>
        </p:txBody>
      </p:sp>
      <p:sp>
        <p:nvSpPr>
          <p:cNvPr id="5" name="rect 4"/>
          <p:cNvSpPr/>
          <p:nvPr/>
        </p:nvSpPr>
        <p:spPr>
          <a:xfrm>
            <a:off x="10629900" y="673100"/>
            <a:ext cx="749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14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39878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窗口的意义在于节奏</a:t>
            </a:r>
          </a:p>
        </p:txBody>
      </p:sp>
      <p:sp>
        <p:nvSpPr>
          <p:cNvPr id="7" name="roundRect 1"/>
          <p:cNvSpPr/>
          <p:nvPr/>
        </p:nvSpPr>
        <p:spPr>
          <a:xfrm>
            <a:off x="812800" y="2032000"/>
            <a:ext cx="3556000" cy="914400"/>
          </a:xfrm>
          <a:prstGeom prst="roundRect">
            <a:avLst>
              <a:gd fmla="val 13889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1676400" y="2336800"/>
            <a:ext cx="18288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700">
                <a:solidFill>
                  <a:srgbClr val="7A8AA3"/>
                </a:solidFill>
                <a:latin typeface="PingFang SC"/>
                <a:ea typeface="PingFang SC"/>
              </a:rPr>
              <a:t>已归档的既成事实</a:t>
            </a:r>
          </a:p>
        </p:txBody>
      </p:sp>
      <p:sp>
        <p:nvSpPr>
          <p:cNvPr id="9" name="roundRect 2"/>
          <p:cNvSpPr/>
          <p:nvPr/>
        </p:nvSpPr>
        <p:spPr>
          <a:xfrm>
            <a:off x="4572000" y="1981200"/>
            <a:ext cx="3556000" cy="10160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w="25400">
            <a:solidFill>
              <a:srgbClr val="2F6B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7"/>
          <p:cNvSpPr/>
          <p:nvPr/>
        </p:nvSpPr>
        <p:spPr>
          <a:xfrm>
            <a:off x="5651500" y="2336800"/>
            <a:ext cx="13970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700" b="1">
                <a:solidFill>
                  <a:srgbClr val="2F6BFF"/>
                </a:solidFill>
                <a:latin typeface="PingFang SC"/>
                <a:ea typeface="PingFang SC"/>
              </a:rPr>
              <a:t>待整理的候选</a:t>
            </a:r>
          </a:p>
        </p:txBody>
      </p:sp>
      <p:sp>
        <p:nvSpPr>
          <p:cNvPr id="11" name="rect 8"/>
          <p:cNvSpPr/>
          <p:nvPr/>
        </p:nvSpPr>
        <p:spPr>
          <a:xfrm>
            <a:off x="8331200" y="2032000"/>
            <a:ext cx="3048000" cy="914400"/>
          </a:xfrm>
          <a:custGeom>
            <a:avLst/>
            <a:gdLst/>
            <a:ahLst/>
            <a:cxnLst/>
            <a:rect l="0" t="0" r="0" b="0"/>
            <a:pathLst>
              <a:path w="240" h="72">
                <a:moveTo>
                  <a:pt x="10" y="0"/>
                </a:moveTo>
                <a:lnTo>
                  <a:pt x="16" y="0"/>
                </a:lnTo>
                <a:moveTo>
                  <a:pt x="21" y="0"/>
                </a:moveTo>
                <a:lnTo>
                  <a:pt x="27" y="0"/>
                </a:lnTo>
                <a:moveTo>
                  <a:pt x="32" y="0"/>
                </a:moveTo>
                <a:lnTo>
                  <a:pt x="38" y="0"/>
                </a:lnTo>
                <a:moveTo>
                  <a:pt x="43" y="0"/>
                </a:moveTo>
                <a:lnTo>
                  <a:pt x="49" y="0"/>
                </a:lnTo>
                <a:moveTo>
                  <a:pt x="54" y="0"/>
                </a:moveTo>
                <a:lnTo>
                  <a:pt x="60" y="0"/>
                </a:lnTo>
                <a:moveTo>
                  <a:pt x="65" y="0"/>
                </a:moveTo>
                <a:lnTo>
                  <a:pt x="71" y="0"/>
                </a:lnTo>
                <a:moveTo>
                  <a:pt x="76" y="0"/>
                </a:moveTo>
                <a:lnTo>
                  <a:pt x="82" y="0"/>
                </a:lnTo>
                <a:moveTo>
                  <a:pt x="87" y="0"/>
                </a:moveTo>
                <a:lnTo>
                  <a:pt x="93" y="0"/>
                </a:lnTo>
                <a:moveTo>
                  <a:pt x="98" y="0"/>
                </a:moveTo>
                <a:lnTo>
                  <a:pt x="104" y="0"/>
                </a:lnTo>
                <a:moveTo>
                  <a:pt x="109" y="0"/>
                </a:moveTo>
                <a:lnTo>
                  <a:pt x="115" y="0"/>
                </a:lnTo>
                <a:moveTo>
                  <a:pt x="120" y="0"/>
                </a:moveTo>
                <a:lnTo>
                  <a:pt x="126" y="0"/>
                </a:lnTo>
                <a:moveTo>
                  <a:pt x="131" y="0"/>
                </a:moveTo>
                <a:lnTo>
                  <a:pt x="137" y="0"/>
                </a:lnTo>
                <a:moveTo>
                  <a:pt x="142" y="0"/>
                </a:moveTo>
                <a:lnTo>
                  <a:pt x="148" y="0"/>
                </a:lnTo>
                <a:moveTo>
                  <a:pt x="153" y="0"/>
                </a:moveTo>
                <a:lnTo>
                  <a:pt x="159" y="0"/>
                </a:lnTo>
                <a:moveTo>
                  <a:pt x="164" y="0"/>
                </a:moveTo>
                <a:lnTo>
                  <a:pt x="170" y="0"/>
                </a:lnTo>
                <a:moveTo>
                  <a:pt x="175" y="0"/>
                </a:moveTo>
                <a:lnTo>
                  <a:pt x="181" y="0"/>
                </a:lnTo>
                <a:moveTo>
                  <a:pt x="186" y="0"/>
                </a:moveTo>
                <a:lnTo>
                  <a:pt x="192" y="0"/>
                </a:lnTo>
                <a:moveTo>
                  <a:pt x="197" y="0"/>
                </a:moveTo>
                <a:lnTo>
                  <a:pt x="203" y="0"/>
                </a:lnTo>
                <a:moveTo>
                  <a:pt x="208" y="0"/>
                </a:moveTo>
                <a:lnTo>
                  <a:pt x="214" y="0"/>
                </a:lnTo>
                <a:moveTo>
                  <a:pt x="219" y="0"/>
                </a:moveTo>
                <a:lnTo>
                  <a:pt x="225" y="0"/>
                </a:lnTo>
                <a:moveTo>
                  <a:pt x="230" y="0"/>
                </a:moveTo>
                <a:lnTo>
                  <a:pt x="233" y="0"/>
                </a:lnTo>
                <a:lnTo>
                  <a:pt x="235" y="1"/>
                </a:lnTo>
                <a:lnTo>
                  <a:pt x="236" y="2"/>
                </a:lnTo>
                <a:moveTo>
                  <a:pt x="239" y="6"/>
                </a:moveTo>
                <a:lnTo>
                  <a:pt x="240" y="7"/>
                </a:lnTo>
                <a:lnTo>
                  <a:pt x="240" y="10"/>
                </a:lnTo>
                <a:lnTo>
                  <a:pt x="240" y="11"/>
                </a:lnTo>
                <a:moveTo>
                  <a:pt x="240" y="16"/>
                </a:moveTo>
                <a:lnTo>
                  <a:pt x="240" y="22"/>
                </a:lnTo>
                <a:moveTo>
                  <a:pt x="240" y="27"/>
                </a:moveTo>
                <a:lnTo>
                  <a:pt x="240" y="33"/>
                </a:lnTo>
                <a:moveTo>
                  <a:pt x="240" y="38"/>
                </a:moveTo>
                <a:lnTo>
                  <a:pt x="240" y="44"/>
                </a:lnTo>
                <a:moveTo>
                  <a:pt x="240" y="49"/>
                </a:moveTo>
                <a:lnTo>
                  <a:pt x="240" y="55"/>
                </a:lnTo>
                <a:moveTo>
                  <a:pt x="240" y="60"/>
                </a:moveTo>
                <a:lnTo>
                  <a:pt x="240" y="62"/>
                </a:lnTo>
                <a:lnTo>
                  <a:pt x="240" y="65"/>
                </a:lnTo>
                <a:lnTo>
                  <a:pt x="239" y="66"/>
                </a:lnTo>
                <a:moveTo>
                  <a:pt x="236" y="70"/>
                </a:moveTo>
                <a:lnTo>
                  <a:pt x="235" y="71"/>
                </a:lnTo>
                <a:lnTo>
                  <a:pt x="233" y="72"/>
                </a:lnTo>
                <a:lnTo>
                  <a:pt x="230" y="72"/>
                </a:lnTo>
                <a:moveTo>
                  <a:pt x="225" y="72"/>
                </a:moveTo>
                <a:lnTo>
                  <a:pt x="219" y="72"/>
                </a:lnTo>
                <a:moveTo>
                  <a:pt x="214" y="72"/>
                </a:moveTo>
                <a:lnTo>
                  <a:pt x="208" y="72"/>
                </a:lnTo>
                <a:moveTo>
                  <a:pt x="203" y="72"/>
                </a:moveTo>
                <a:lnTo>
                  <a:pt x="197" y="72"/>
                </a:lnTo>
                <a:moveTo>
                  <a:pt x="192" y="72"/>
                </a:moveTo>
                <a:lnTo>
                  <a:pt x="186" y="72"/>
                </a:lnTo>
                <a:moveTo>
                  <a:pt x="181" y="72"/>
                </a:moveTo>
                <a:lnTo>
                  <a:pt x="175" y="72"/>
                </a:lnTo>
                <a:moveTo>
                  <a:pt x="170" y="72"/>
                </a:moveTo>
                <a:lnTo>
                  <a:pt x="164" y="72"/>
                </a:lnTo>
                <a:moveTo>
                  <a:pt x="159" y="72"/>
                </a:moveTo>
                <a:lnTo>
                  <a:pt x="153" y="72"/>
                </a:lnTo>
                <a:moveTo>
                  <a:pt x="148" y="72"/>
                </a:moveTo>
                <a:lnTo>
                  <a:pt x="142" y="72"/>
                </a:lnTo>
                <a:moveTo>
                  <a:pt x="137" y="72"/>
                </a:moveTo>
                <a:lnTo>
                  <a:pt x="131" y="72"/>
                </a:lnTo>
                <a:moveTo>
                  <a:pt x="126" y="72"/>
                </a:moveTo>
                <a:lnTo>
                  <a:pt x="120" y="72"/>
                </a:lnTo>
                <a:moveTo>
                  <a:pt x="115" y="72"/>
                </a:moveTo>
                <a:lnTo>
                  <a:pt x="109" y="72"/>
                </a:lnTo>
                <a:moveTo>
                  <a:pt x="104" y="72"/>
                </a:moveTo>
                <a:lnTo>
                  <a:pt x="98" y="72"/>
                </a:lnTo>
                <a:moveTo>
                  <a:pt x="93" y="72"/>
                </a:moveTo>
                <a:lnTo>
                  <a:pt x="87" y="72"/>
                </a:lnTo>
                <a:moveTo>
                  <a:pt x="82" y="72"/>
                </a:moveTo>
                <a:lnTo>
                  <a:pt x="76" y="72"/>
                </a:lnTo>
                <a:moveTo>
                  <a:pt x="71" y="72"/>
                </a:moveTo>
                <a:lnTo>
                  <a:pt x="65" y="72"/>
                </a:lnTo>
                <a:moveTo>
                  <a:pt x="60" y="72"/>
                </a:moveTo>
                <a:lnTo>
                  <a:pt x="54" y="72"/>
                </a:lnTo>
                <a:moveTo>
                  <a:pt x="49" y="72"/>
                </a:moveTo>
                <a:lnTo>
                  <a:pt x="43" y="72"/>
                </a:lnTo>
                <a:moveTo>
                  <a:pt x="38" y="72"/>
                </a:moveTo>
                <a:lnTo>
                  <a:pt x="32" y="72"/>
                </a:lnTo>
                <a:moveTo>
                  <a:pt x="27" y="72"/>
                </a:moveTo>
                <a:lnTo>
                  <a:pt x="21" y="72"/>
                </a:lnTo>
                <a:moveTo>
                  <a:pt x="16" y="72"/>
                </a:moveTo>
                <a:lnTo>
                  <a:pt x="10" y="72"/>
                </a:lnTo>
                <a:moveTo>
                  <a:pt x="6" y="71"/>
                </a:moveTo>
                <a:lnTo>
                  <a:pt x="5" y="71"/>
                </a:lnTo>
                <a:lnTo>
                  <a:pt x="3" y="69"/>
                </a:lnTo>
                <a:lnTo>
                  <a:pt x="1" y="67"/>
                </a:lnTo>
                <a:lnTo>
                  <a:pt x="1" y="67"/>
                </a:lnTo>
                <a:moveTo>
                  <a:pt x="0" y="62"/>
                </a:moveTo>
                <a:lnTo>
                  <a:pt x="0" y="56"/>
                </a:lnTo>
                <a:moveTo>
                  <a:pt x="0" y="51"/>
                </a:moveTo>
                <a:lnTo>
                  <a:pt x="0" y="45"/>
                </a:lnTo>
                <a:moveTo>
                  <a:pt x="0" y="40"/>
                </a:moveTo>
                <a:lnTo>
                  <a:pt x="0" y="34"/>
                </a:lnTo>
                <a:moveTo>
                  <a:pt x="0" y="29"/>
                </a:moveTo>
                <a:lnTo>
                  <a:pt x="0" y="23"/>
                </a:lnTo>
                <a:moveTo>
                  <a:pt x="0" y="18"/>
                </a:moveTo>
                <a:lnTo>
                  <a:pt x="0" y="12"/>
                </a:lnTo>
                <a:moveTo>
                  <a:pt x="0" y="7"/>
                </a:moveTo>
                <a:lnTo>
                  <a:pt x="1" y="5"/>
                </a:lnTo>
                <a:lnTo>
                  <a:pt x="3" y="3"/>
                </a:lnTo>
                <a:lnTo>
                  <a:pt x="4" y="2"/>
                </a:lnTo>
                <a:moveTo>
                  <a:pt x="8" y="0"/>
                </a:moveTo>
                <a:lnTo>
                  <a:pt x="10" y="0"/>
                </a:lnTo>
              </a:path>
            </a:pathLst>
          </a:custGeom>
          <a:noFill/>
          <a:ln w="12700">
            <a:solidFill>
              <a:srgbClr val="7A8AA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9"/>
          <p:cNvSpPr/>
          <p:nvPr/>
        </p:nvSpPr>
        <p:spPr>
          <a:xfrm>
            <a:off x="9588500" y="2336800"/>
            <a:ext cx="533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700">
                <a:solidFill>
                  <a:srgbClr val="7A8AA3"/>
                </a:solidFill>
                <a:latin typeface="PingFang SC"/>
                <a:ea typeface="PingFang SC"/>
              </a:rPr>
              <a:t>未来</a:t>
            </a:r>
          </a:p>
        </p:txBody>
      </p:sp>
      <p:sp>
        <p:nvSpPr>
          <p:cNvPr id="13" name="roundRect 3"/>
          <p:cNvSpPr/>
          <p:nvPr/>
        </p:nvSpPr>
        <p:spPr>
          <a:xfrm>
            <a:off x="812800" y="3403600"/>
            <a:ext cx="5105400" cy="14986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 10"/>
          <p:cNvSpPr/>
          <p:nvPr/>
        </p:nvSpPr>
        <p:spPr>
          <a:xfrm>
            <a:off x="812800" y="3403600"/>
            <a:ext cx="5105400" cy="508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11"/>
          <p:cNvSpPr/>
          <p:nvPr/>
        </p:nvSpPr>
        <p:spPr>
          <a:xfrm>
            <a:off x="1117600" y="3619500"/>
            <a:ext cx="10160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800" b="1">
                <a:solidFill>
                  <a:srgbClr val="C98A20"/>
                </a:solidFill>
                <a:latin typeface="PingFang SC"/>
                <a:ea typeface="PingFang SC"/>
              </a:rPr>
              <a:t>窗口太短</a:t>
            </a:r>
          </a:p>
        </p:txBody>
      </p:sp>
      <p:sp>
        <p:nvSpPr>
          <p:cNvPr id="16" name="rect 12"/>
          <p:cNvSpPr/>
          <p:nvPr/>
        </p:nvSpPr>
        <p:spPr>
          <a:xfrm>
            <a:off x="1117600" y="4051300"/>
            <a:ext cx="33528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9000"/>
              </a:lnSpc>
            </a:pPr>
            <a:r>
              <a:rPr lang="zh-CN" sz="1600">
                <a:solidFill>
                  <a:srgbClr val="3D4C66"/>
                </a:solidFill>
                <a:latin typeface="PingFang SC"/>
                <a:ea typeface="PingFang SC"/>
              </a:rPr>
              <a:t>把过程中的猜测和已被推翻的尝试，</a:t>
            </a:r>
          </a:p>
          <a:p>
            <a:pPr>
              <a:lnSpc>
                <a:spcPct val="109000"/>
              </a:lnSpc>
            </a:pPr>
            <a:r>
              <a:rPr lang="zh-CN" sz="1600">
                <a:solidFill>
                  <a:srgbClr val="3D4C66"/>
                </a:solidFill>
                <a:latin typeface="PingFang SC"/>
                <a:ea typeface="PingFang SC"/>
              </a:rPr>
              <a:t>误当成知识写入</a:t>
            </a:r>
          </a:p>
        </p:txBody>
      </p:sp>
      <p:sp>
        <p:nvSpPr>
          <p:cNvPr id="17" name="roundRect 4"/>
          <p:cNvSpPr/>
          <p:nvPr/>
        </p:nvSpPr>
        <p:spPr>
          <a:xfrm>
            <a:off x="6273800" y="3403600"/>
            <a:ext cx="5105400" cy="14986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13"/>
          <p:cNvSpPr/>
          <p:nvPr/>
        </p:nvSpPr>
        <p:spPr>
          <a:xfrm>
            <a:off x="6273800" y="3403600"/>
            <a:ext cx="5105400" cy="508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4"/>
          <p:cNvSpPr/>
          <p:nvPr/>
        </p:nvSpPr>
        <p:spPr>
          <a:xfrm>
            <a:off x="6578600" y="3619500"/>
            <a:ext cx="10160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800" b="1">
                <a:solidFill>
                  <a:srgbClr val="C98A20"/>
                </a:solidFill>
                <a:latin typeface="PingFang SC"/>
                <a:ea typeface="PingFang SC"/>
              </a:rPr>
              <a:t>窗口太长</a:t>
            </a:r>
          </a:p>
        </p:txBody>
      </p:sp>
      <p:sp>
        <p:nvSpPr>
          <p:cNvPr id="20" name="rect 15"/>
          <p:cNvSpPr/>
          <p:nvPr/>
        </p:nvSpPr>
        <p:spPr>
          <a:xfrm>
            <a:off x="6578600" y="4051300"/>
            <a:ext cx="29464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9000"/>
              </a:lnSpc>
            </a:pPr>
            <a:r>
              <a:rPr lang="zh-CN" sz="1600">
                <a:solidFill>
                  <a:srgbClr val="3D4C66"/>
                </a:solidFill>
                <a:latin typeface="PingFang SC"/>
                <a:ea typeface="PingFang SC"/>
              </a:rPr>
              <a:t>整理的时机总是姗姗来迟，</a:t>
            </a:r>
          </a:p>
          <a:p>
            <a:pPr>
              <a:lnSpc>
                <a:spcPct val="109000"/>
              </a:lnSpc>
            </a:pPr>
            <a:r>
              <a:rPr lang="zh-CN" sz="1600">
                <a:solidFill>
                  <a:srgbClr val="3D4C66"/>
                </a:solidFill>
                <a:latin typeface="PingFang SC"/>
                <a:ea typeface="PingFang SC"/>
              </a:rPr>
              <a:t>提取点滑出窗口后回收代价更高</a:t>
            </a:r>
          </a:p>
        </p:txBody>
      </p:sp>
      <p:sp>
        <p:nvSpPr>
          <p:cNvPr id="21" name="roundRect 5"/>
          <p:cNvSpPr/>
          <p:nvPr/>
        </p:nvSpPr>
        <p:spPr>
          <a:xfrm>
            <a:off x="812800" y="5334000"/>
            <a:ext cx="10566400" cy="965200"/>
          </a:xfrm>
          <a:prstGeom prst="roundRect">
            <a:avLst>
              <a:gd fmla="val 13158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 16"/>
          <p:cNvSpPr/>
          <p:nvPr/>
        </p:nvSpPr>
        <p:spPr>
          <a:xfrm>
            <a:off x="1117600" y="5511800"/>
            <a:ext cx="44196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 b="1">
                <a:solidFill>
                  <a:srgbClr val="1B2A41"/>
                </a:solidFill>
                <a:latin typeface="PingFang SC"/>
                <a:ea typeface="PingFang SC"/>
              </a:rPr>
              <a:t>实践：窗口覆盖一个完整话题的自然生命周期</a:t>
            </a:r>
          </a:p>
        </p:txBody>
      </p:sp>
      <p:sp>
        <p:nvSpPr>
          <p:cNvPr id="23" name="rect 17"/>
          <p:cNvSpPr/>
          <p:nvPr/>
        </p:nvSpPr>
        <p:spPr>
          <a:xfrm>
            <a:off x="1117600" y="5880100"/>
            <a:ext cx="5689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>
                <a:solidFill>
                  <a:srgbClr val="3D4C66"/>
                </a:solidFill>
                <a:latin typeface="PingFang SC"/>
                <a:ea typeface="PingFang SC"/>
              </a:rPr>
              <a:t>出现收敛迹象（结论被确认、话题被切换），才是梳理的时机。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13208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04 · 滑动窗口</a:t>
            </a:r>
          </a:p>
        </p:txBody>
      </p:sp>
      <p:sp>
        <p:nvSpPr>
          <p:cNvPr id="5" name="rect 4"/>
          <p:cNvSpPr/>
          <p:nvPr/>
        </p:nvSpPr>
        <p:spPr>
          <a:xfrm>
            <a:off x="10629900" y="673100"/>
            <a:ext cx="749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15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26924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什么是知识点</a:t>
            </a:r>
          </a:p>
        </p:txBody>
      </p:sp>
      <p:sp>
        <p:nvSpPr>
          <p:cNvPr id="7" name="roundRect 1"/>
          <p:cNvSpPr/>
          <p:nvPr/>
        </p:nvSpPr>
        <p:spPr>
          <a:xfrm>
            <a:off x="812800" y="1981200"/>
            <a:ext cx="5105400" cy="2921000"/>
          </a:xfrm>
          <a:prstGeom prst="roundRect">
            <a:avLst>
              <a:gd fmla="val 4348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1"/>
          <p:cNvSpPr/>
          <p:nvPr/>
        </p:nvSpPr>
        <p:spPr>
          <a:xfrm>
            <a:off x="1117600" y="2311400"/>
            <a:ext cx="355600" cy="355600"/>
          </a:xfrm>
          <a:prstGeom prst="ellipse">
            <a:avLst/>
          </a:prstGeom>
          <a:solidFill>
            <a:srgbClr val="C7CF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6"/>
          <p:cNvSpPr/>
          <p:nvPr/>
        </p:nvSpPr>
        <p:spPr>
          <a:xfrm>
            <a:off x="1168400" y="2349500"/>
            <a:ext cx="254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600">
                <a:solidFill>
                  <a:srgbClr val="FFFFFF"/>
                </a:solidFill>
                <a:latin typeface="PingFang SC"/>
                <a:ea typeface="Noto Sans SC"/>
              </a:rPr>
              <a:t>✕</a:t>
            </a:r>
          </a:p>
        </p:txBody>
      </p:sp>
      <p:sp>
        <p:nvSpPr>
          <p:cNvPr id="10" name="rect 7"/>
          <p:cNvSpPr/>
          <p:nvPr/>
        </p:nvSpPr>
        <p:spPr>
          <a:xfrm>
            <a:off x="1117600" y="2908300"/>
            <a:ext cx="1993900" cy="660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4000"/>
              </a:lnSpc>
            </a:pPr>
            <a:r>
              <a:rPr lang="zh-CN" sz="1800">
                <a:solidFill>
                  <a:srgbClr val="3D4C66"/>
                </a:solidFill>
                <a:latin typeface="PingFang SC"/>
                <a:ea typeface="PingFang SC"/>
              </a:rPr>
              <a:t>"用户说要用 sqlite</a:t>
            </a:r>
          </a:p>
          <a:p>
            <a:pPr>
              <a:lnSpc>
                <a:spcPct val="104000"/>
              </a:lnSpc>
            </a:pPr>
            <a:r>
              <a:rPr lang="zh-CN" sz="1800">
                <a:solidFill>
                  <a:srgbClr val="3D4C66"/>
                </a:solidFill>
                <a:latin typeface="PingFang SC"/>
                <a:ea typeface="PingFang SC"/>
              </a:rPr>
              <a:t>换掉 duckdb"</a:t>
            </a:r>
          </a:p>
        </p:txBody>
      </p:sp>
      <p:cxnSp>
        <p:nvCxnSpPr>
          <p:cNvPr id="11" name="line 1"/>
          <p:cNvCxnSpPr/>
          <p:nvPr/>
        </p:nvCxnSpPr>
        <p:spPr>
          <a:xfrm>
            <a:off x="1117600" y="3778250"/>
            <a:ext cx="4495800" cy="12700"/>
          </a:xfrm>
          <a:prstGeom prst="line">
            <a:avLst/>
          </a:prstGeom>
          <a:noFill/>
          <a:ln w="12700">
            <a:solidFill>
              <a:srgbClr val="D9E1EF"/>
            </a:solidFill>
          </a:ln>
        </p:spPr>
      </p:cxnSp>
      <p:sp>
        <p:nvSpPr>
          <p:cNvPr id="12" name="rect 8"/>
          <p:cNvSpPr/>
          <p:nvPr/>
        </p:nvSpPr>
        <p:spPr>
          <a:xfrm>
            <a:off x="1117600" y="3987800"/>
            <a:ext cx="2959100" cy="558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只有在那段对话的语境里才有意义</a:t>
            </a:r>
          </a:p>
          <a:p>
            <a:pPr>
              <a:lnSpc>
                <a:spcPct val="105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——那是聊天记录</a:t>
            </a:r>
          </a:p>
        </p:txBody>
      </p:sp>
      <p:sp>
        <p:nvSpPr>
          <p:cNvPr id="13" name="roundRect 2"/>
          <p:cNvSpPr/>
          <p:nvPr/>
        </p:nvSpPr>
        <p:spPr>
          <a:xfrm>
            <a:off x="6273800" y="1981200"/>
            <a:ext cx="5105400" cy="292100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w="19050">
            <a:solidFill>
              <a:srgbClr val="12B5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ellipse 2"/>
          <p:cNvSpPr/>
          <p:nvPr/>
        </p:nvSpPr>
        <p:spPr>
          <a:xfrm>
            <a:off x="6578600" y="2311400"/>
            <a:ext cx="355600" cy="355600"/>
          </a:xfrm>
          <a:prstGeom prst="ellipse">
            <a:avLst/>
          </a:prstGeom>
          <a:solidFill>
            <a:srgbClr val="12B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9"/>
          <p:cNvSpPr/>
          <p:nvPr/>
        </p:nvSpPr>
        <p:spPr>
          <a:xfrm>
            <a:off x="6629400" y="2349500"/>
            <a:ext cx="254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600">
                <a:solidFill>
                  <a:srgbClr val="FFFFFF"/>
                </a:solidFill>
                <a:latin typeface="PingFang SC"/>
                <a:ea typeface="Noto Sans SC"/>
              </a:rPr>
              <a:t>✓</a:t>
            </a:r>
          </a:p>
        </p:txBody>
      </p:sp>
      <p:sp>
        <p:nvSpPr>
          <p:cNvPr id="16" name="rect 10"/>
          <p:cNvSpPr/>
          <p:nvPr/>
        </p:nvSpPr>
        <p:spPr>
          <a:xfrm>
            <a:off x="6578600" y="2908300"/>
            <a:ext cx="3441700" cy="990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4000"/>
              </a:lnSpc>
            </a:pPr>
            <a:r>
              <a:rPr lang="zh-CN" sz="1800">
                <a:solidFill>
                  <a:srgbClr val="1B2A41"/>
                </a:solidFill>
                <a:latin typeface="PingFang SC"/>
                <a:ea typeface="PingFang SC"/>
              </a:rPr>
              <a:t>"存储层评估过 sqlite 单库方案，</a:t>
            </a:r>
          </a:p>
          <a:p>
            <a:pPr>
              <a:lnSpc>
                <a:spcPct val="104000"/>
              </a:lnSpc>
            </a:pPr>
            <a:r>
              <a:rPr lang="zh-CN" sz="1800">
                <a:solidFill>
                  <a:srgbClr val="1B2A41"/>
                </a:solidFill>
                <a:latin typeface="PingFang SC"/>
                <a:ea typeface="PingFang SC"/>
              </a:rPr>
              <a:t>因 json contains 查询不可</a:t>
            </a:r>
          </a:p>
          <a:p>
            <a:pPr>
              <a:lnSpc>
                <a:spcPct val="104000"/>
              </a:lnSpc>
            </a:pPr>
            <a:r>
              <a:rPr lang="zh-CN" sz="1800">
                <a:solidFill>
                  <a:srgbClr val="1B2A41"/>
                </a:solidFill>
                <a:latin typeface="PingFang SC"/>
                <a:ea typeface="PingFang SC"/>
              </a:rPr>
              <a:t>行而搁置"</a:t>
            </a:r>
          </a:p>
        </p:txBody>
      </p:sp>
      <p:cxnSp>
        <p:nvCxnSpPr>
          <p:cNvPr id="17" name="line 2"/>
          <p:cNvCxnSpPr/>
          <p:nvPr/>
        </p:nvCxnSpPr>
        <p:spPr>
          <a:xfrm>
            <a:off x="6578600" y="4083050"/>
            <a:ext cx="4495800" cy="12700"/>
          </a:xfrm>
          <a:prstGeom prst="line">
            <a:avLst/>
          </a:prstGeom>
          <a:noFill/>
          <a:ln w="12700">
            <a:solidFill>
              <a:srgbClr val="D9E1EF"/>
            </a:solidFill>
          </a:ln>
        </p:spPr>
      </p:cxnSp>
      <p:sp>
        <p:nvSpPr>
          <p:cNvPr id="18" name="rect 11"/>
          <p:cNvSpPr/>
          <p:nvPr/>
        </p:nvSpPr>
        <p:spPr>
          <a:xfrm>
            <a:off x="6578600" y="4292600"/>
            <a:ext cx="2578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任何时候可检索到并直接使用</a:t>
            </a:r>
          </a:p>
        </p:txBody>
      </p:sp>
      <p:sp>
        <p:nvSpPr>
          <p:cNvPr id="19" name="roundRect 3"/>
          <p:cNvSpPr/>
          <p:nvPr/>
        </p:nvSpPr>
        <p:spPr>
          <a:xfrm>
            <a:off x="812800" y="5334000"/>
            <a:ext cx="10566400" cy="711200"/>
          </a:xfrm>
          <a:prstGeom prst="roundRect">
            <a:avLst>
              <a:gd fmla="val 17857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12"/>
          <p:cNvSpPr/>
          <p:nvPr/>
        </p:nvSpPr>
        <p:spPr>
          <a:xfrm>
            <a:off x="2806700" y="5537200"/>
            <a:ext cx="65786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700">
                <a:solidFill>
                  <a:srgbClr val="1B2A41"/>
                </a:solidFill>
                <a:latin typeface="PingFang SC"/>
                <a:ea typeface="PingFang SC"/>
              </a:rPr>
              <a:t>梳理时还要裁决：这条知识是新的，还是对既有知识的修正或否定？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2298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04 · 滑动窗口 · 提取原则</a:t>
            </a:r>
          </a:p>
        </p:txBody>
      </p:sp>
      <p:sp>
        <p:nvSpPr>
          <p:cNvPr id="5" name="rect 4"/>
          <p:cNvSpPr/>
          <p:nvPr/>
        </p:nvSpPr>
        <p:spPr>
          <a:xfrm>
            <a:off x="10629900" y="673100"/>
            <a:ext cx="749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16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31242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提取原则（上）</a:t>
            </a:r>
          </a:p>
        </p:txBody>
      </p:sp>
      <p:sp>
        <p:nvSpPr>
          <p:cNvPr id="7" name="roundRect 1"/>
          <p:cNvSpPr/>
          <p:nvPr/>
        </p:nvSpPr>
        <p:spPr>
          <a:xfrm>
            <a:off x="812800" y="1981200"/>
            <a:ext cx="10566400" cy="13970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812800" y="1981200"/>
            <a:ext cx="76200" cy="13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7"/>
          <p:cNvSpPr/>
          <p:nvPr/>
        </p:nvSpPr>
        <p:spPr>
          <a:xfrm>
            <a:off x="1270000" y="2222500"/>
            <a:ext cx="2895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 b="1">
                <a:solidFill>
                  <a:srgbClr val="2F6BFF"/>
                </a:solidFill>
                <a:latin typeface="PingFang SC"/>
                <a:ea typeface="PingFang SC"/>
              </a:rPr>
              <a:t>记录教训，而不是流水账</a:t>
            </a:r>
          </a:p>
        </p:txBody>
      </p:sp>
      <p:sp>
        <p:nvSpPr>
          <p:cNvPr id="10" name="rect 8"/>
          <p:cNvSpPr/>
          <p:nvPr/>
        </p:nvSpPr>
        <p:spPr>
          <a:xfrm>
            <a:off x="1270000" y="2743200"/>
            <a:ext cx="9423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梳理是合成，不是转录。"用 Arc&lt;Mutex&lt;T&gt;&gt;" 是合格的知识点，"要使用合适的同步机制" 不是。</a:t>
            </a:r>
          </a:p>
        </p:txBody>
      </p:sp>
      <p:sp>
        <p:nvSpPr>
          <p:cNvPr id="11" name="roundRect 2"/>
          <p:cNvSpPr/>
          <p:nvPr/>
        </p:nvSpPr>
        <p:spPr>
          <a:xfrm>
            <a:off x="812800" y="3581400"/>
            <a:ext cx="10566400" cy="13970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9"/>
          <p:cNvSpPr/>
          <p:nvPr/>
        </p:nvSpPr>
        <p:spPr>
          <a:xfrm>
            <a:off x="812800" y="3581400"/>
            <a:ext cx="76200" cy="13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10"/>
          <p:cNvSpPr/>
          <p:nvPr/>
        </p:nvSpPr>
        <p:spPr>
          <a:xfrm>
            <a:off x="1270000" y="3822700"/>
            <a:ext cx="2895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 b="1">
                <a:solidFill>
                  <a:srgbClr val="12B5A5"/>
                </a:solidFill>
                <a:latin typeface="PingFang SC"/>
                <a:ea typeface="PingFang SC"/>
              </a:rPr>
              <a:t>对质量保守，对时机激进</a:t>
            </a:r>
          </a:p>
        </p:txBody>
      </p:sp>
      <p:sp>
        <p:nvSpPr>
          <p:cNvPr id="14" name="rect 11"/>
          <p:cNvSpPr/>
          <p:nvPr/>
        </p:nvSpPr>
        <p:spPr>
          <a:xfrm>
            <a:off x="1270000" y="4343400"/>
            <a:ext cx="70104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拿不准宁可跳过——低质知识点是未来的噪声；但每几轮就扫一次窗口，</a:t>
            </a:r>
          </a:p>
          <a:p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提取点滑出窗口的回收代价远高于当场判断。</a:t>
            </a:r>
          </a:p>
        </p:txBody>
      </p:sp>
      <p:sp>
        <p:nvSpPr>
          <p:cNvPr id="15" name="roundRect 3"/>
          <p:cNvSpPr/>
          <p:nvPr/>
        </p:nvSpPr>
        <p:spPr>
          <a:xfrm>
            <a:off x="812800" y="5181600"/>
            <a:ext cx="10566400" cy="13970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2"/>
          <p:cNvSpPr/>
          <p:nvPr/>
        </p:nvSpPr>
        <p:spPr>
          <a:xfrm>
            <a:off x="812800" y="5181600"/>
            <a:ext cx="76200" cy="13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3"/>
          <p:cNvSpPr/>
          <p:nvPr/>
        </p:nvSpPr>
        <p:spPr>
          <a:xfrm>
            <a:off x="1270000" y="5422900"/>
            <a:ext cx="1625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 b="1">
                <a:solidFill>
                  <a:srgbClr val="C98A20"/>
                </a:solidFill>
                <a:latin typeface="PingFang SC"/>
                <a:ea typeface="PingFang SC"/>
              </a:rPr>
              <a:t>纠错链是金子</a:t>
            </a:r>
          </a:p>
        </p:txBody>
      </p:sp>
      <p:sp>
        <p:nvSpPr>
          <p:cNvPr id="18" name="rect 14"/>
          <p:cNvSpPr/>
          <p:nvPr/>
        </p:nvSpPr>
        <p:spPr>
          <a:xfrm>
            <a:off x="1270000" y="5943600"/>
            <a:ext cx="93218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问题 → 错误答案 → 用户纠正 → 修正：记录了"为什么错"和"正确的路"，最难从文档重新获得。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2298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04 · 滑动窗口 · 提取原则</a:t>
            </a:r>
          </a:p>
        </p:txBody>
      </p:sp>
      <p:sp>
        <p:nvSpPr>
          <p:cNvPr id="5" name="rect 4"/>
          <p:cNvSpPr/>
          <p:nvPr/>
        </p:nvSpPr>
        <p:spPr>
          <a:xfrm>
            <a:off x="10642600" y="673100"/>
            <a:ext cx="736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17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31242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提取原则（下）</a:t>
            </a:r>
          </a:p>
        </p:txBody>
      </p:sp>
      <p:sp>
        <p:nvSpPr>
          <p:cNvPr id="7" name="roundRect 1"/>
          <p:cNvSpPr/>
          <p:nvPr/>
        </p:nvSpPr>
        <p:spPr>
          <a:xfrm>
            <a:off x="812800" y="1930400"/>
            <a:ext cx="10566400" cy="965200"/>
          </a:xfrm>
          <a:prstGeom prst="roundRect">
            <a:avLst>
              <a:gd fmla="val 13158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812800" y="1930400"/>
            <a:ext cx="76200" cy="965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7"/>
          <p:cNvSpPr/>
          <p:nvPr/>
        </p:nvSpPr>
        <p:spPr>
          <a:xfrm>
            <a:off x="1270000" y="2082800"/>
            <a:ext cx="15494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900" b="1">
                <a:solidFill>
                  <a:srgbClr val="2F6BFF"/>
                </a:solidFill>
                <a:latin typeface="PingFang SC"/>
                <a:ea typeface="PingFang SC"/>
              </a:rPr>
              <a:t>分类决定模板</a:t>
            </a:r>
          </a:p>
        </p:txBody>
      </p:sp>
      <p:sp>
        <p:nvSpPr>
          <p:cNvPr id="10" name="rect 8"/>
          <p:cNvSpPr/>
          <p:nvPr/>
        </p:nvSpPr>
        <p:spPr>
          <a:xfrm>
            <a:off x="1270000" y="2476500"/>
            <a:ext cx="88519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651">
                <a:solidFill>
                  <a:srgbClr val="3D4C66"/>
                </a:solidFill>
                <a:latin typeface="PingFang SC"/>
                <a:ea typeface="PingFang SC"/>
              </a:rPr>
              <a:t>一次答对 / 纠错链 / 探索讨论 / bug 修复 / 设计决策各有骨架；寒暄与确认性短句直接跳过。</a:t>
            </a:r>
          </a:p>
        </p:txBody>
      </p:sp>
      <p:sp>
        <p:nvSpPr>
          <p:cNvPr id="11" name="roundRect 2"/>
          <p:cNvSpPr/>
          <p:nvPr/>
        </p:nvSpPr>
        <p:spPr>
          <a:xfrm>
            <a:off x="812800" y="3048000"/>
            <a:ext cx="10566400" cy="965200"/>
          </a:xfrm>
          <a:prstGeom prst="roundRect">
            <a:avLst>
              <a:gd fmla="val 13158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9"/>
          <p:cNvSpPr/>
          <p:nvPr/>
        </p:nvSpPr>
        <p:spPr>
          <a:xfrm>
            <a:off x="812800" y="3048000"/>
            <a:ext cx="76200" cy="9652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10"/>
          <p:cNvSpPr/>
          <p:nvPr/>
        </p:nvSpPr>
        <p:spPr>
          <a:xfrm>
            <a:off x="1270000" y="3200400"/>
            <a:ext cx="32385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900" b="1">
                <a:solidFill>
                  <a:srgbClr val="12B5A5"/>
                </a:solidFill>
                <a:latin typeface="PingFang SC"/>
                <a:ea typeface="PingFang SC"/>
              </a:rPr>
              <a:t>相对时间必须改写为绝对时间</a:t>
            </a:r>
          </a:p>
        </p:txBody>
      </p:sp>
      <p:sp>
        <p:nvSpPr>
          <p:cNvPr id="14" name="rect 11"/>
          <p:cNvSpPr/>
          <p:nvPr/>
        </p:nvSpPr>
        <p:spPr>
          <a:xfrm>
            <a:off x="1270000" y="3594100"/>
            <a:ext cx="81788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651">
                <a:solidFill>
                  <a:srgbClr val="3D4C66"/>
                </a:solidFill>
                <a:latin typeface="PingFang SC"/>
                <a:ea typeface="PingFang SC"/>
              </a:rPr>
              <a:t>"明天提醒我备份" → "2026-08-29 提醒我备份"——"明天"在入库那一刻就开始失效。</a:t>
            </a:r>
          </a:p>
        </p:txBody>
      </p:sp>
      <p:sp>
        <p:nvSpPr>
          <p:cNvPr id="15" name="roundRect 3"/>
          <p:cNvSpPr/>
          <p:nvPr/>
        </p:nvSpPr>
        <p:spPr>
          <a:xfrm>
            <a:off x="812800" y="4165600"/>
            <a:ext cx="10566400" cy="965200"/>
          </a:xfrm>
          <a:prstGeom prst="roundRect">
            <a:avLst>
              <a:gd fmla="val 13158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2"/>
          <p:cNvSpPr/>
          <p:nvPr/>
        </p:nvSpPr>
        <p:spPr>
          <a:xfrm>
            <a:off x="812800" y="4165600"/>
            <a:ext cx="76200" cy="9652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3"/>
          <p:cNvSpPr/>
          <p:nvPr/>
        </p:nvSpPr>
        <p:spPr>
          <a:xfrm>
            <a:off x="1270000" y="4318000"/>
            <a:ext cx="27559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900" b="1">
                <a:solidFill>
                  <a:srgbClr val="C98A20"/>
                </a:solidFill>
                <a:latin typeface="PingFang SC"/>
                <a:ea typeface="PingFang SC"/>
              </a:rPr>
              <a:t>宁冗勿漏关系，不存敏感</a:t>
            </a:r>
          </a:p>
        </p:txBody>
      </p:sp>
      <p:sp>
        <p:nvSpPr>
          <p:cNvPr id="18" name="rect 14"/>
          <p:cNvSpPr/>
          <p:nvPr/>
        </p:nvSpPr>
        <p:spPr>
          <a:xfrm>
            <a:off x="1270000" y="4711700"/>
            <a:ext cx="86741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651">
                <a:solidFill>
                  <a:srgbClr val="3D4C66"/>
                </a:solidFill>
                <a:latin typeface="PingFang SC"/>
                <a:ea typeface="PingFang SC"/>
              </a:rPr>
              <a:t>三元组谓词不完美也要挂进图；密码、密钥、token 无论出现多少次，不进入任何一层存储。</a:t>
            </a:r>
          </a:p>
        </p:txBody>
      </p:sp>
      <p:sp>
        <p:nvSpPr>
          <p:cNvPr id="19" name="rect 15"/>
          <p:cNvSpPr/>
          <p:nvPr/>
        </p:nvSpPr>
        <p:spPr>
          <a:xfrm>
            <a:off x="812800" y="5740400"/>
            <a:ext cx="13970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 b="1">
                <a:solidFill>
                  <a:srgbClr val="1B2A41"/>
                </a:solidFill>
                <a:latin typeface="PingFang SC"/>
                <a:ea typeface="PingFang SC"/>
              </a:rPr>
              <a:t>纠错链四段：</a:t>
            </a:r>
          </a:p>
        </p:txBody>
      </p:sp>
      <p:sp>
        <p:nvSpPr>
          <p:cNvPr id="20" name="roundRect 4"/>
          <p:cNvSpPr/>
          <p:nvPr/>
        </p:nvSpPr>
        <p:spPr>
          <a:xfrm>
            <a:off x="2286000" y="5664200"/>
            <a:ext cx="1905000" cy="508000"/>
          </a:xfrm>
          <a:prstGeom prst="roundRect">
            <a:avLst>
              <a:gd fmla="val 20000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6"/>
          <p:cNvSpPr/>
          <p:nvPr/>
        </p:nvSpPr>
        <p:spPr>
          <a:xfrm>
            <a:off x="2533650" y="5778500"/>
            <a:ext cx="14097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600">
                <a:solidFill>
                  <a:srgbClr val="1B2A41"/>
                </a:solidFill>
                <a:latin typeface="PingFang SC"/>
                <a:ea typeface="Noto Sans SC"/>
              </a:rPr>
              <a:t>initial attempt</a:t>
            </a:r>
          </a:p>
        </p:txBody>
      </p:sp>
      <p:cxnSp>
        <p:nvCxnSpPr>
          <p:cNvPr id="22" name="line 1"/>
          <p:cNvCxnSpPr/>
          <p:nvPr/>
        </p:nvCxnSpPr>
        <p:spPr>
          <a:xfrm>
            <a:off x="4191000" y="5911850"/>
            <a:ext cx="711200" cy="127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23" name="roundRect 5"/>
          <p:cNvSpPr/>
          <p:nvPr/>
        </p:nvSpPr>
        <p:spPr>
          <a:xfrm>
            <a:off x="4953000" y="5664200"/>
            <a:ext cx="1524000" cy="508000"/>
          </a:xfrm>
          <a:prstGeom prst="roundRect">
            <a:avLst>
              <a:gd fmla="val 20000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7"/>
          <p:cNvSpPr/>
          <p:nvPr/>
        </p:nvSpPr>
        <p:spPr>
          <a:xfrm>
            <a:off x="5461000" y="5778500"/>
            <a:ext cx="508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600">
                <a:solidFill>
                  <a:srgbClr val="1B2A41"/>
                </a:solidFill>
                <a:latin typeface="PingFang SC"/>
                <a:ea typeface="PingFang SC"/>
              </a:rPr>
              <a:t>错因</a:t>
            </a:r>
          </a:p>
        </p:txBody>
      </p:sp>
      <p:cxnSp>
        <p:nvCxnSpPr>
          <p:cNvPr id="25" name="line 2"/>
          <p:cNvCxnSpPr/>
          <p:nvPr/>
        </p:nvCxnSpPr>
        <p:spPr>
          <a:xfrm>
            <a:off x="6477000" y="5911850"/>
            <a:ext cx="711200" cy="127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26" name="roundRect 6"/>
          <p:cNvSpPr/>
          <p:nvPr/>
        </p:nvSpPr>
        <p:spPr>
          <a:xfrm>
            <a:off x="7239000" y="5664200"/>
            <a:ext cx="1651000" cy="508000"/>
          </a:xfrm>
          <a:prstGeom prst="roundRect">
            <a:avLst>
              <a:gd fmla="val 20000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 18"/>
          <p:cNvSpPr/>
          <p:nvPr/>
        </p:nvSpPr>
        <p:spPr>
          <a:xfrm>
            <a:off x="7607300" y="5778500"/>
            <a:ext cx="914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600">
                <a:solidFill>
                  <a:srgbClr val="1B2A41"/>
                </a:solidFill>
                <a:latin typeface="PingFang SC"/>
                <a:ea typeface="PingFang SC"/>
              </a:rPr>
              <a:t>正确做法</a:t>
            </a:r>
          </a:p>
        </p:txBody>
      </p:sp>
      <p:cxnSp>
        <p:nvCxnSpPr>
          <p:cNvPr id="28" name="line 3"/>
          <p:cNvCxnSpPr/>
          <p:nvPr/>
        </p:nvCxnSpPr>
        <p:spPr>
          <a:xfrm>
            <a:off x="8890000" y="5911850"/>
            <a:ext cx="711200" cy="127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29" name="roundRect 7"/>
          <p:cNvSpPr/>
          <p:nvPr/>
        </p:nvSpPr>
        <p:spPr>
          <a:xfrm>
            <a:off x="9652000" y="5664200"/>
            <a:ext cx="1524000" cy="508000"/>
          </a:xfrm>
          <a:prstGeom prst="roundRect">
            <a:avLst>
              <a:gd fmla="val 20000" name="adj"/>
            </a:avLst>
          </a:prstGeom>
          <a:solidFill>
            <a:srgbClr val="12B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 19"/>
          <p:cNvSpPr/>
          <p:nvPr/>
        </p:nvSpPr>
        <p:spPr>
          <a:xfrm>
            <a:off x="10064750" y="5778500"/>
            <a:ext cx="6985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en-US" sz="1600">
                <a:solidFill>
                  <a:srgbClr val="FFFFFF"/>
                </a:solidFill>
                <a:latin typeface="PingFang SC"/>
                <a:ea typeface="Noto Sans SC"/>
              </a:rPr>
              <a:t>lesson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762000"/>
            <a:ext cx="2260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HYPATIA · 非线性的记忆</a:t>
            </a:r>
          </a:p>
        </p:txBody>
      </p:sp>
      <p:sp>
        <p:nvSpPr>
          <p:cNvPr id="4" name="rect 3"/>
          <p:cNvSpPr/>
          <p:nvPr/>
        </p:nvSpPr>
        <p:spPr>
          <a:xfrm>
            <a:off x="762000" y="1295400"/>
            <a:ext cx="2082800" cy="1981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13000" b="1">
                <a:solidFill>
                  <a:srgbClr val="RGBA(47, 107, 255, 0.55)"/>
                </a:solidFill>
                <a:latin typeface="PingFang SC"/>
                <a:ea typeface="Noto Sans SC"/>
              </a:rPr>
              <a:t>05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3479800"/>
            <a:ext cx="36576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4000" b="1">
                <a:solidFill>
                  <a:srgbClr val="FFFFFF"/>
                </a:solidFill>
                <a:latin typeface="PingFang SC"/>
                <a:ea typeface="PingFang SC"/>
              </a:rPr>
              <a:t>三元组与图结构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4330700"/>
            <a:ext cx="2641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>
                <a:solidFill>
                  <a:srgbClr val="9FB4D8"/>
                </a:solidFill>
                <a:latin typeface="PingFang SC"/>
                <a:ea typeface="PingFang SC"/>
              </a:rPr>
              <a:t>知识点彼此不是孤立的</a:t>
            </a:r>
          </a:p>
        </p:txBody>
      </p:sp>
      <p:sp>
        <p:nvSpPr>
          <p:cNvPr id="7" name="ellipse 1"/>
          <p:cNvSpPr/>
          <p:nvPr/>
        </p:nvSpPr>
        <p:spPr>
          <a:xfrm>
            <a:off x="7493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2"/>
          <p:cNvSpPr/>
          <p:nvPr/>
        </p:nvSpPr>
        <p:spPr>
          <a:xfrm>
            <a:off x="10541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 3"/>
          <p:cNvSpPr/>
          <p:nvPr/>
        </p:nvSpPr>
        <p:spPr>
          <a:xfrm>
            <a:off x="13589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 4"/>
          <p:cNvSpPr/>
          <p:nvPr/>
        </p:nvSpPr>
        <p:spPr>
          <a:xfrm>
            <a:off x="16637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 5"/>
          <p:cNvSpPr/>
          <p:nvPr/>
        </p:nvSpPr>
        <p:spPr>
          <a:xfrm>
            <a:off x="1968500" y="6032500"/>
            <a:ext cx="127000" cy="1270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 6"/>
          <p:cNvSpPr/>
          <p:nvPr/>
        </p:nvSpPr>
        <p:spPr>
          <a:xfrm>
            <a:off x="22733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1892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05 · 三元组与图结构</a:t>
            </a:r>
          </a:p>
        </p:txBody>
      </p:sp>
      <p:sp>
        <p:nvSpPr>
          <p:cNvPr id="5" name="rect 4"/>
          <p:cNvSpPr/>
          <p:nvPr/>
        </p:nvSpPr>
        <p:spPr>
          <a:xfrm>
            <a:off x="10629900" y="673100"/>
            <a:ext cx="749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19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95758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正文负责"读到时理解"，三元组负责"需要时找到"</a:t>
            </a:r>
          </a:p>
        </p:txBody>
      </p:sp>
      <p:sp>
        <p:nvSpPr>
          <p:cNvPr id="7" name="roundRect 1"/>
          <p:cNvSpPr/>
          <p:nvPr/>
        </p:nvSpPr>
        <p:spPr>
          <a:xfrm>
            <a:off x="812800" y="2032000"/>
            <a:ext cx="5105400" cy="1905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812800" y="2032000"/>
            <a:ext cx="51054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7"/>
          <p:cNvSpPr/>
          <p:nvPr/>
        </p:nvSpPr>
        <p:spPr>
          <a:xfrm>
            <a:off x="1117600" y="2273300"/>
            <a:ext cx="1371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 b="1">
                <a:solidFill>
                  <a:srgbClr val="1B2A41"/>
                </a:solidFill>
                <a:latin typeface="PingFang SC"/>
                <a:ea typeface="PingFang SC"/>
              </a:rPr>
              <a:t>知识点正文</a:t>
            </a:r>
          </a:p>
        </p:txBody>
      </p:sp>
      <p:sp>
        <p:nvSpPr>
          <p:cNvPr id="10" name="rect 8"/>
          <p:cNvSpPr/>
          <p:nvPr/>
        </p:nvSpPr>
        <p:spPr>
          <a:xfrm>
            <a:off x="1117600" y="2794000"/>
            <a:ext cx="2476500" cy="660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自含陈述，</a:t>
            </a:r>
          </a:p>
          <a:p>
            <a:pPr>
              <a:lnSpc>
                <a:spcPct val="108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脱离对话上下文仍然成立</a:t>
            </a:r>
          </a:p>
        </p:txBody>
      </p:sp>
      <p:sp>
        <p:nvSpPr>
          <p:cNvPr id="11" name="roundRect 2"/>
          <p:cNvSpPr/>
          <p:nvPr/>
        </p:nvSpPr>
        <p:spPr>
          <a:xfrm>
            <a:off x="6273800" y="2032000"/>
            <a:ext cx="5105400" cy="1905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9"/>
          <p:cNvSpPr/>
          <p:nvPr/>
        </p:nvSpPr>
        <p:spPr>
          <a:xfrm>
            <a:off x="6273800" y="2032000"/>
            <a:ext cx="5105400" cy="508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10"/>
          <p:cNvSpPr/>
          <p:nvPr/>
        </p:nvSpPr>
        <p:spPr>
          <a:xfrm>
            <a:off x="6578600" y="2273300"/>
            <a:ext cx="29464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 b="1">
                <a:solidFill>
                  <a:srgbClr val="12B5A5"/>
                </a:solidFill>
                <a:latin typeface="PingFang SC"/>
                <a:ea typeface="PingFang SC"/>
              </a:rPr>
              <a:t>三元组 (主语, 谓语, 宾语)</a:t>
            </a:r>
          </a:p>
        </p:txBody>
      </p:sp>
      <p:sp>
        <p:nvSpPr>
          <p:cNvPr id="14" name="rect 11"/>
          <p:cNvSpPr/>
          <p:nvPr/>
        </p:nvSpPr>
        <p:spPr>
          <a:xfrm>
            <a:off x="6578600" y="2794000"/>
            <a:ext cx="3987800" cy="660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写入 RDF 风格的图，</a:t>
            </a:r>
          </a:p>
          <a:p>
            <a:pPr>
              <a:lnSpc>
                <a:spcPct val="108000"/>
              </a:lnSpc>
            </a:pPr>
            <a:r>
              <a:rPr lang="zh-CN" sz="1700">
                <a:solidFill>
                  <a:srgbClr val="3D4C66"/>
                </a:solidFill>
                <a:latin typeface="PingFang SC"/>
                <a:ea typeface="PingFang SC"/>
              </a:rPr>
              <a:t>显式化对话里隐含在语气与语序中的关系</a:t>
            </a:r>
          </a:p>
        </p:txBody>
      </p:sp>
      <p:sp>
        <p:nvSpPr>
          <p:cNvPr id="15" name="roundRect 3"/>
          <p:cNvSpPr/>
          <p:nvPr/>
        </p:nvSpPr>
        <p:spPr>
          <a:xfrm>
            <a:off x="812800" y="4445000"/>
            <a:ext cx="10566400" cy="1397000"/>
          </a:xfrm>
          <a:prstGeom prst="roundRect">
            <a:avLst>
              <a:gd fmla="val 9091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2"/>
          <p:cNvSpPr/>
          <p:nvPr/>
        </p:nvSpPr>
        <p:spPr>
          <a:xfrm>
            <a:off x="1117600" y="4699000"/>
            <a:ext cx="76327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1B2A41"/>
                </a:solidFill>
                <a:latin typeface="PingFang SC"/>
                <a:ea typeface="PingFang SC"/>
              </a:rPr>
              <a:t>从 "sqlite" 出发沿关系走两步，你会撞见三年前某次关于 PG jsonb 的讨论——</a:t>
            </a:r>
          </a:p>
        </p:txBody>
      </p:sp>
      <p:sp>
        <p:nvSpPr>
          <p:cNvPr id="17" name="rect 13"/>
          <p:cNvSpPr/>
          <p:nvPr/>
        </p:nvSpPr>
        <p:spPr>
          <a:xfrm>
            <a:off x="1117600" y="5105400"/>
            <a:ext cx="39878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1B2A41"/>
                </a:solidFill>
                <a:latin typeface="PingFang SC"/>
                <a:ea typeface="PingFang SC"/>
              </a:rPr>
              <a:t>这种相遇在任何全文检索里都不会发生。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1358900" y="1409700"/>
            <a:ext cx="94742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800">
                <a:solidFill>
                  <a:srgbClr val="9FB4D8"/>
                </a:solidFill>
                <a:latin typeface="PingFang SC"/>
                <a:ea typeface="PingFang SC"/>
              </a:rPr>
              <a:t>抽取有噪声，谓词难以完美——但图的价值不在每条边都精确，而在结构本身提供可遍历性。</a:t>
            </a:r>
          </a:p>
        </p:txBody>
      </p:sp>
      <p:sp>
        <p:nvSpPr>
          <p:cNvPr id="4" name="rect 3"/>
          <p:cNvSpPr/>
          <p:nvPr/>
        </p:nvSpPr>
        <p:spPr>
          <a:xfrm>
            <a:off x="2603500" y="2514600"/>
            <a:ext cx="6985000" cy="2336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sz="3000" b="1">
                <a:solidFill>
                  <a:srgbClr val="FFFFFF"/>
                </a:solidFill>
                <a:latin typeface="PingFang SC"/>
                <a:ea typeface="PingFang SC"/>
              </a:rPr>
              <a:t>一条错误的三元组是一个</a:t>
            </a:r>
          </a:p>
          <a:p>
            <a:pPr algn="ctr">
              <a:lnSpc>
                <a:spcPct val="110000"/>
              </a:lnSpc>
            </a:pPr>
            <a:r>
              <a:rPr lang="zh-CN" sz="3000" b="1">
                <a:solidFill>
                  <a:srgbClr val="FFFFFF"/>
                </a:solidFill>
                <a:latin typeface="PingFang SC"/>
                <a:ea typeface="PingFang SC"/>
              </a:rPr>
              <a:t>可被发现、被挑战、被 resolve 的对象；</a:t>
            </a:r>
          </a:p>
          <a:p>
            <a:pPr algn="ctr">
              <a:lnSpc>
                <a:spcPct val="110000"/>
              </a:lnSpc>
            </a:pPr>
            <a:r>
              <a:rPr lang="zh-CN" sz="3000" b="1">
                <a:solidFill>
                  <a:srgbClr val="FFFFFF"/>
                </a:solidFill>
                <a:latin typeface="PingFang SC"/>
                <a:ea typeface="PingFang SC"/>
              </a:rPr>
              <a:t>一段没有被结构化的对话，</a:t>
            </a:r>
          </a:p>
          <a:p>
            <a:pPr algn="ctr">
              <a:lnSpc>
                <a:spcPct val="110000"/>
              </a:lnSpc>
            </a:pPr>
            <a:r>
              <a:rPr lang="zh-CN" sz="3000" b="1">
                <a:solidFill>
                  <a:srgbClr val="FFFFFF"/>
                </a:solidFill>
                <a:latin typeface="PingFang SC"/>
                <a:ea typeface="PingFang SC"/>
              </a:rPr>
              <a:t>则连犯错的资格都没有。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762000"/>
            <a:ext cx="2260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HYPATIA · 非线性的记忆</a:t>
            </a:r>
          </a:p>
        </p:txBody>
      </p:sp>
      <p:sp>
        <p:nvSpPr>
          <p:cNvPr id="4" name="rect 3"/>
          <p:cNvSpPr/>
          <p:nvPr/>
        </p:nvSpPr>
        <p:spPr>
          <a:xfrm>
            <a:off x="762000" y="1295400"/>
            <a:ext cx="2082800" cy="1981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13000" b="1">
                <a:solidFill>
                  <a:srgbClr val="RGBA(47, 107, 255, 0.55)"/>
                </a:solidFill>
                <a:latin typeface="PingFang SC"/>
                <a:ea typeface="Noto Sans SC"/>
              </a:rPr>
              <a:t>06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3479800"/>
            <a:ext cx="46736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4000" b="1">
                <a:solidFill>
                  <a:srgbClr val="FFFFFF"/>
                </a:solidFill>
                <a:latin typeface="PingFang SC"/>
                <a:ea typeface="PingFang SC"/>
              </a:rPr>
              <a:t>自动回忆与显式读写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4330700"/>
            <a:ext cx="3911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>
                <a:solidFill>
                  <a:srgbClr val="9FB4D8"/>
                </a:solidFill>
                <a:latin typeface="PingFang SC"/>
                <a:ea typeface="PingFang SC"/>
              </a:rPr>
              <a:t>整理是写的一侧，回忆是读的一侧</a:t>
            </a:r>
          </a:p>
        </p:txBody>
      </p:sp>
      <p:sp>
        <p:nvSpPr>
          <p:cNvPr id="7" name="ellipse 1"/>
          <p:cNvSpPr/>
          <p:nvPr/>
        </p:nvSpPr>
        <p:spPr>
          <a:xfrm>
            <a:off x="7493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2"/>
          <p:cNvSpPr/>
          <p:nvPr/>
        </p:nvSpPr>
        <p:spPr>
          <a:xfrm>
            <a:off x="10541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 3"/>
          <p:cNvSpPr/>
          <p:nvPr/>
        </p:nvSpPr>
        <p:spPr>
          <a:xfrm>
            <a:off x="13589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 4"/>
          <p:cNvSpPr/>
          <p:nvPr/>
        </p:nvSpPr>
        <p:spPr>
          <a:xfrm>
            <a:off x="16637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 5"/>
          <p:cNvSpPr/>
          <p:nvPr/>
        </p:nvSpPr>
        <p:spPr>
          <a:xfrm>
            <a:off x="19685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 6"/>
          <p:cNvSpPr/>
          <p:nvPr/>
        </p:nvSpPr>
        <p:spPr>
          <a:xfrm>
            <a:off x="2273300" y="6032500"/>
            <a:ext cx="127000" cy="1270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13208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06 · 读取通道</a:t>
            </a:r>
          </a:p>
        </p:txBody>
      </p:sp>
      <p:sp>
        <p:nvSpPr>
          <p:cNvPr id="5" name="rect 4"/>
          <p:cNvSpPr/>
          <p:nvPr/>
        </p:nvSpPr>
        <p:spPr>
          <a:xfrm>
            <a:off x="10591800" y="673100"/>
            <a:ext cx="787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22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46228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适配不同 Agent 的机制</a:t>
            </a:r>
          </a:p>
        </p:txBody>
      </p:sp>
      <p:sp>
        <p:nvSpPr>
          <p:cNvPr id="7" name="roundRect 1"/>
          <p:cNvSpPr/>
          <p:nvPr/>
        </p:nvSpPr>
        <p:spPr>
          <a:xfrm>
            <a:off x="812800" y="1981200"/>
            <a:ext cx="3314700" cy="304800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1117600" y="2197100"/>
            <a:ext cx="27305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800" b="1">
                <a:solidFill>
                  <a:srgbClr val="2F6BFF"/>
                </a:solidFill>
                <a:latin typeface="PingFang SC"/>
                <a:ea typeface="PingFang SC"/>
              </a:rPr>
              <a:t>每轮重构 system prompt</a:t>
            </a:r>
          </a:p>
        </p:txBody>
      </p:sp>
      <p:sp>
        <p:nvSpPr>
          <p:cNvPr id="9" name="rect 7"/>
          <p:cNvSpPr/>
          <p:nvPr/>
        </p:nvSpPr>
        <p:spPr>
          <a:xfrm>
            <a:off x="1117600" y="2705100"/>
            <a:ext cx="1117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 b="1">
                <a:solidFill>
                  <a:srgbClr val="1B2A41"/>
                </a:solidFill>
                <a:latin typeface="PingFang SC"/>
                <a:ea typeface="PingFang SC"/>
              </a:rPr>
              <a:t>确定性注入</a:t>
            </a:r>
          </a:p>
        </p:txBody>
      </p:sp>
      <p:sp>
        <p:nvSpPr>
          <p:cNvPr id="10" name="rect 8"/>
          <p:cNvSpPr/>
          <p:nvPr/>
        </p:nvSpPr>
        <p:spPr>
          <a:xfrm>
            <a:off x="1117600" y="3124200"/>
            <a:ext cx="2209800" cy="1219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任务开始时执行一次</a:t>
            </a:r>
          </a:p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JSE 查询，把相关 shelf</a:t>
            </a:r>
          </a:p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的高层摘要固定放进</a:t>
            </a:r>
          </a:p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上下文</a:t>
            </a:r>
          </a:p>
        </p:txBody>
      </p:sp>
      <p:sp>
        <p:nvSpPr>
          <p:cNvPr id="11" name="roundRect 2"/>
          <p:cNvSpPr/>
          <p:nvPr/>
        </p:nvSpPr>
        <p:spPr>
          <a:xfrm>
            <a:off x="4432300" y="1981200"/>
            <a:ext cx="3314700" cy="304800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9"/>
          <p:cNvSpPr/>
          <p:nvPr/>
        </p:nvSpPr>
        <p:spPr>
          <a:xfrm>
            <a:off x="4737100" y="2197100"/>
            <a:ext cx="2844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800" b="1">
                <a:solidFill>
                  <a:srgbClr val="12B5A5"/>
                </a:solidFill>
                <a:latin typeface="PingFang SC"/>
                <a:ea typeface="PingFang SC"/>
              </a:rPr>
              <a:t>持续上下文、能自主调工具</a:t>
            </a:r>
          </a:p>
        </p:txBody>
      </p:sp>
      <p:sp>
        <p:nvSpPr>
          <p:cNvPr id="13" name="rect 10"/>
          <p:cNvSpPr/>
          <p:nvPr/>
        </p:nvSpPr>
        <p:spPr>
          <a:xfrm>
            <a:off x="4737100" y="2527300"/>
            <a:ext cx="2324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7A8AA3"/>
                </a:solidFill>
                <a:latin typeface="PingFang SC"/>
                <a:ea typeface="PingFang SC"/>
              </a:rPr>
              <a:t>harness / openclaw 这一类</a:t>
            </a:r>
          </a:p>
        </p:txBody>
      </p:sp>
      <p:sp>
        <p:nvSpPr>
          <p:cNvPr id="14" name="rect 11"/>
          <p:cNvSpPr/>
          <p:nvPr/>
        </p:nvSpPr>
        <p:spPr>
          <a:xfrm>
            <a:off x="4737100" y="2933700"/>
            <a:ext cx="1117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 b="1">
                <a:solidFill>
                  <a:srgbClr val="1B2A41"/>
                </a:solidFill>
                <a:latin typeface="PingFang SC"/>
                <a:ea typeface="PingFang SC"/>
              </a:rPr>
              <a:t>技能层检索</a:t>
            </a:r>
          </a:p>
        </p:txBody>
      </p:sp>
      <p:sp>
        <p:nvSpPr>
          <p:cNvPr id="15" name="rect 12"/>
          <p:cNvSpPr/>
          <p:nvPr/>
        </p:nvSpPr>
        <p:spPr>
          <a:xfrm>
            <a:off x="4737100" y="3352800"/>
            <a:ext cx="2070100" cy="914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需要时自己发起检索，</a:t>
            </a:r>
          </a:p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甚至在任务中途发现</a:t>
            </a:r>
          </a:p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线索后中途补查</a:t>
            </a:r>
          </a:p>
        </p:txBody>
      </p:sp>
      <p:sp>
        <p:nvSpPr>
          <p:cNvPr id="16" name="roundRect 3"/>
          <p:cNvSpPr/>
          <p:nvPr/>
        </p:nvSpPr>
        <p:spPr>
          <a:xfrm>
            <a:off x="8051800" y="1981200"/>
            <a:ext cx="3314700" cy="304800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3"/>
          <p:cNvSpPr/>
          <p:nvPr/>
        </p:nvSpPr>
        <p:spPr>
          <a:xfrm>
            <a:off x="8356600" y="2197100"/>
            <a:ext cx="26162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800" b="1">
                <a:solidFill>
                  <a:srgbClr val="C98A20"/>
                </a:solidFill>
                <a:latin typeface="PingFang SC"/>
                <a:ea typeface="PingFang SC"/>
              </a:rPr>
              <a:t>被动响应、几乎无主动权</a:t>
            </a:r>
          </a:p>
        </p:txBody>
      </p:sp>
      <p:sp>
        <p:nvSpPr>
          <p:cNvPr id="18" name="rect 14"/>
          <p:cNvSpPr/>
          <p:nvPr/>
        </p:nvSpPr>
        <p:spPr>
          <a:xfrm>
            <a:off x="8356600" y="2705100"/>
            <a:ext cx="914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1600" b="1">
                <a:solidFill>
                  <a:srgbClr val="1B2A41"/>
                </a:solidFill>
                <a:latin typeface="PingFang SC"/>
                <a:ea typeface="PingFang SC"/>
              </a:rPr>
              <a:t>边界触发</a:t>
            </a:r>
          </a:p>
        </p:txBody>
      </p:sp>
      <p:sp>
        <p:nvSpPr>
          <p:cNvPr id="19" name="rect 15"/>
          <p:cNvSpPr/>
          <p:nvPr/>
        </p:nvSpPr>
        <p:spPr>
          <a:xfrm>
            <a:off x="8356600" y="3124200"/>
            <a:ext cx="2273300" cy="1219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退而求其次，在对话的</a:t>
            </a:r>
          </a:p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特定边界（新任务开启、</a:t>
            </a:r>
          </a:p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用户显式提醒）触发</a:t>
            </a:r>
          </a:p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外部注入</a:t>
            </a:r>
          </a:p>
        </p:txBody>
      </p:sp>
      <p:sp>
        <p:nvSpPr>
          <p:cNvPr id="20" name="rect 16"/>
          <p:cNvSpPr/>
          <p:nvPr/>
        </p:nvSpPr>
        <p:spPr>
          <a:xfrm>
            <a:off x="2870200" y="5499100"/>
            <a:ext cx="6451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600">
                <a:solidFill>
                  <a:srgbClr val="3D4C66"/>
                </a:solidFill>
                <a:latin typeface="PingFang SC"/>
                <a:ea typeface="PingFang SC"/>
              </a:rPr>
              <a:t>hypatia skill 的存在就是为了吸收这些差异——同一套 JSE 查询能力，</a:t>
            </a:r>
          </a:p>
        </p:txBody>
      </p:sp>
      <p:sp>
        <p:nvSpPr>
          <p:cNvPr id="21" name="rect 17"/>
          <p:cNvSpPr/>
          <p:nvPr/>
        </p:nvSpPr>
        <p:spPr>
          <a:xfrm>
            <a:off x="2819400" y="5854700"/>
            <a:ext cx="6553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</a:pPr>
            <a:r>
              <a:rPr lang="zh-CN" sz="1600">
                <a:solidFill>
                  <a:srgbClr val="3D4C66"/>
                </a:solidFill>
                <a:latin typeface="PingFang SC"/>
                <a:ea typeface="PingFang SC"/>
              </a:rPr>
              <a:t>包装成不同 Agent 各自习惯的形态，而不要求 Agent 违背自己的天性。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604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673100"/>
            <a:ext cx="13208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06 · 读取通道</a:t>
            </a:r>
          </a:p>
        </p:txBody>
      </p:sp>
      <p:sp>
        <p:nvSpPr>
          <p:cNvPr id="5" name="rect 4"/>
          <p:cNvSpPr/>
          <p:nvPr/>
        </p:nvSpPr>
        <p:spPr>
          <a:xfrm>
            <a:off x="10591800" y="673100"/>
            <a:ext cx="787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23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143000"/>
            <a:ext cx="57150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3400" b="1">
                <a:solidFill>
                  <a:srgbClr val="1B2A41"/>
                </a:solidFill>
                <a:latin typeface="PingFang SC"/>
                <a:ea typeface="PingFang SC"/>
              </a:rPr>
              <a:t>两条不该等待自动机制的通道</a:t>
            </a:r>
          </a:p>
        </p:txBody>
      </p:sp>
      <p:sp>
        <p:nvSpPr>
          <p:cNvPr id="7" name="roundRect 1"/>
          <p:cNvSpPr/>
          <p:nvPr/>
        </p:nvSpPr>
        <p:spPr>
          <a:xfrm>
            <a:off x="812800" y="1981200"/>
            <a:ext cx="5105400" cy="304800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812800" y="1981200"/>
            <a:ext cx="51054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7"/>
          <p:cNvSpPr/>
          <p:nvPr/>
        </p:nvSpPr>
        <p:spPr>
          <a:xfrm>
            <a:off x="1117600" y="2235200"/>
            <a:ext cx="11684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2100" b="1">
                <a:solidFill>
                  <a:srgbClr val="2F6BFF"/>
                </a:solidFill>
                <a:latin typeface="PingFang SC"/>
                <a:ea typeface="PingFang SC"/>
              </a:rPr>
              <a:t>显式写入</a:t>
            </a:r>
          </a:p>
        </p:txBody>
      </p:sp>
      <p:sp>
        <p:nvSpPr>
          <p:cNvPr id="10" name="rect 8"/>
          <p:cNvSpPr/>
          <p:nvPr/>
        </p:nvSpPr>
        <p:spPr>
          <a:xfrm>
            <a:off x="1117600" y="2743200"/>
            <a:ext cx="37465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1B2A41"/>
                </a:solidFill>
                <a:latin typeface="PingFang SC"/>
                <a:ea typeface="PingFang SC"/>
              </a:rPr>
              <a:t>"把这份集群运维文档写到 hypatia 里"</a:t>
            </a:r>
          </a:p>
        </p:txBody>
      </p:sp>
      <p:sp>
        <p:nvSpPr>
          <p:cNvPr id="11" name="rect 9"/>
          <p:cNvSpPr/>
          <p:nvPr/>
        </p:nvSpPr>
        <p:spPr>
          <a:xfrm>
            <a:off x="1117600" y="3225800"/>
            <a:ext cx="4241800" cy="914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内容现成、结构清晰，不需要滑动窗口</a:t>
            </a:r>
          </a:p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等待话题收敛，直接拆解为条目和三元组入库。</a:t>
            </a:r>
          </a:p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读书、读文档、导入规格说明都走这条路。</a:t>
            </a:r>
          </a:p>
        </p:txBody>
      </p:sp>
      <p:sp>
        <p:nvSpPr>
          <p:cNvPr id="12" name="rect 10"/>
          <p:cNvSpPr/>
          <p:nvPr/>
        </p:nvSpPr>
        <p:spPr>
          <a:xfrm>
            <a:off x="1117600" y="4533900"/>
            <a:ext cx="4140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7A8AA3"/>
                </a:solidFill>
                <a:latin typeface="PingFang SC"/>
                <a:ea typeface="PingFang SC"/>
              </a:rPr>
              <a:t>工作量大、周期长 → 更适合交给长时工作的 Agent</a:t>
            </a:r>
          </a:p>
        </p:txBody>
      </p:sp>
      <p:sp>
        <p:nvSpPr>
          <p:cNvPr id="13" name="roundRect 2"/>
          <p:cNvSpPr/>
          <p:nvPr/>
        </p:nvSpPr>
        <p:spPr>
          <a:xfrm>
            <a:off x="6273800" y="1981200"/>
            <a:ext cx="5105400" cy="304800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w="19050">
            <a:solidFill>
              <a:srgbClr val="12B5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 11"/>
          <p:cNvSpPr/>
          <p:nvPr/>
        </p:nvSpPr>
        <p:spPr>
          <a:xfrm>
            <a:off x="6273800" y="1981200"/>
            <a:ext cx="5105400" cy="508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12"/>
          <p:cNvSpPr/>
          <p:nvPr/>
        </p:nvSpPr>
        <p:spPr>
          <a:xfrm>
            <a:off x="6578600" y="2235200"/>
            <a:ext cx="11684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</a:pPr>
            <a:r>
              <a:rPr lang="zh-CN" sz="2100" b="1">
                <a:solidFill>
                  <a:srgbClr val="12B5A5"/>
                </a:solidFill>
                <a:latin typeface="PingFang SC"/>
                <a:ea typeface="PingFang SC"/>
              </a:rPr>
              <a:t>显式读取</a:t>
            </a:r>
          </a:p>
        </p:txBody>
      </p:sp>
      <p:sp>
        <p:nvSpPr>
          <p:cNvPr id="16" name="rect 13"/>
          <p:cNvSpPr/>
          <p:nvPr/>
        </p:nvSpPr>
        <p:spPr>
          <a:xfrm>
            <a:off x="6578600" y="2743200"/>
            <a:ext cx="36703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700">
                <a:solidFill>
                  <a:srgbClr val="1B2A41"/>
                </a:solidFill>
                <a:latin typeface="PingFang SC"/>
                <a:ea typeface="PingFang SC"/>
              </a:rPr>
              <a:t>"读一下 hypatia，找关于运维的记忆"</a:t>
            </a:r>
          </a:p>
        </p:txBody>
      </p:sp>
      <p:sp>
        <p:nvSpPr>
          <p:cNvPr id="17" name="rect 14"/>
          <p:cNvSpPr/>
          <p:nvPr/>
        </p:nvSpPr>
        <p:spPr>
          <a:xfrm>
            <a:off x="6578600" y="3225800"/>
            <a:ext cx="34544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价值不在信息本身，而在于它把检索从</a:t>
            </a:r>
          </a:p>
          <a:p>
            <a:pPr>
              <a:lnSpc>
                <a:spcPct val="114000"/>
              </a:lnSpc>
            </a:pPr>
            <a:r>
              <a:rPr lang="zh-CN" sz="1551">
                <a:solidFill>
                  <a:srgbClr val="3D4C66"/>
                </a:solidFill>
                <a:latin typeface="PingFang SC"/>
                <a:ea typeface="PingFang SC"/>
              </a:rPr>
              <a:t>"Agent 的判断"变成"用户的指令"。</a:t>
            </a:r>
          </a:p>
        </p:txBody>
      </p:sp>
      <p:sp>
        <p:nvSpPr>
          <p:cNvPr id="18" name="rect 15"/>
          <p:cNvSpPr/>
          <p:nvPr/>
        </p:nvSpPr>
        <p:spPr>
          <a:xfrm>
            <a:off x="6578600" y="4229100"/>
            <a:ext cx="4572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7A8AA3"/>
                </a:solidFill>
                <a:latin typeface="PingFang SC"/>
                <a:ea typeface="PingFang SC"/>
              </a:rPr>
              <a:t>opencode 试图直接 ssh 时，一句话提醒即完成手动复位</a:t>
            </a:r>
          </a:p>
        </p:txBody>
      </p:sp>
      <p:sp>
        <p:nvSpPr>
          <p:cNvPr id="19" name="roundRect 3"/>
          <p:cNvSpPr/>
          <p:nvPr/>
        </p:nvSpPr>
        <p:spPr>
          <a:xfrm>
            <a:off x="812800" y="5461000"/>
            <a:ext cx="10566400" cy="711200"/>
          </a:xfrm>
          <a:prstGeom prst="roundRect">
            <a:avLst>
              <a:gd fmla="val 17857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16"/>
          <p:cNvSpPr/>
          <p:nvPr/>
        </p:nvSpPr>
        <p:spPr>
          <a:xfrm>
            <a:off x="3778250" y="5664200"/>
            <a:ext cx="46355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700">
                <a:solidFill>
                  <a:srgbClr val="1B2A41"/>
                </a:solidFill>
                <a:latin typeface="PingFang SC"/>
                <a:ea typeface="PingFang SC"/>
              </a:rPr>
              <a:t>成本是一句话，回报是整个知识库的重新在场。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508000"/>
            <a:ext cx="50800" cy="279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990600" y="5207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全景</a:t>
            </a:r>
          </a:p>
        </p:txBody>
      </p:sp>
      <p:sp>
        <p:nvSpPr>
          <p:cNvPr id="5" name="rect 4"/>
          <p:cNvSpPr/>
          <p:nvPr/>
        </p:nvSpPr>
        <p:spPr>
          <a:xfrm>
            <a:off x="10591800" y="520700"/>
            <a:ext cx="787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24 / 26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927100"/>
            <a:ext cx="3911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3000" b="1">
                <a:solidFill>
                  <a:srgbClr val="1B2A41"/>
                </a:solidFill>
                <a:latin typeface="PingFang SC"/>
                <a:ea typeface="PingFang SC"/>
              </a:rPr>
              <a:t>从线性对话流到知识图</a:t>
            </a:r>
          </a:p>
        </p:txBody>
      </p:sp>
      <p:sp>
        <p:nvSpPr>
          <p:cNvPr id="7" name="rect 6"/>
          <p:cNvSpPr/>
          <p:nvPr/>
        </p:nvSpPr>
        <p:spPr>
          <a:xfrm>
            <a:off x="812800" y="1587500"/>
            <a:ext cx="2235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7A8AA3"/>
                </a:solidFill>
                <a:latin typeface="PingFang SC"/>
                <a:ea typeface="PingFang SC"/>
              </a:rPr>
              <a:t>线性对话流（随时间流逝）</a:t>
            </a:r>
          </a:p>
        </p:txBody>
      </p:sp>
      <p:sp>
        <p:nvSpPr>
          <p:cNvPr id="8" name="roundRect 1"/>
          <p:cNvSpPr/>
          <p:nvPr/>
        </p:nvSpPr>
        <p:spPr>
          <a:xfrm>
            <a:off x="812800" y="1930400"/>
            <a:ext cx="1219200" cy="457200"/>
          </a:xfrm>
          <a:prstGeom prst="roundRect">
            <a:avLst>
              <a:gd fmla="val 22222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7"/>
          <p:cNvSpPr/>
          <p:nvPr/>
        </p:nvSpPr>
        <p:spPr>
          <a:xfrm>
            <a:off x="1041400" y="20447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3D4C66"/>
                </a:solidFill>
                <a:latin typeface="PingFang SC"/>
                <a:ea typeface="PingFang SC"/>
              </a:rPr>
              <a:t>轮次 1..n</a:t>
            </a:r>
          </a:p>
        </p:txBody>
      </p:sp>
      <p:sp>
        <p:nvSpPr>
          <p:cNvPr id="10" name="roundRect 2"/>
          <p:cNvSpPr/>
          <p:nvPr/>
        </p:nvSpPr>
        <p:spPr>
          <a:xfrm>
            <a:off x="2184400" y="1930400"/>
            <a:ext cx="1219200" cy="457200"/>
          </a:xfrm>
          <a:prstGeom prst="roundRect">
            <a:avLst>
              <a:gd fmla="val 22222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8"/>
          <p:cNvSpPr/>
          <p:nvPr/>
        </p:nvSpPr>
        <p:spPr>
          <a:xfrm>
            <a:off x="2292350" y="2044700"/>
            <a:ext cx="1003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3D4C66"/>
                </a:solidFill>
                <a:latin typeface="PingFang SC"/>
                <a:ea typeface="PingFang SC"/>
              </a:rPr>
              <a:t>轮次 n+1..m</a:t>
            </a:r>
          </a:p>
        </p:txBody>
      </p:sp>
      <p:sp>
        <p:nvSpPr>
          <p:cNvPr id="12" name="roundRect 3"/>
          <p:cNvSpPr/>
          <p:nvPr/>
        </p:nvSpPr>
        <p:spPr>
          <a:xfrm>
            <a:off x="3556000" y="1930400"/>
            <a:ext cx="1219200" cy="457200"/>
          </a:xfrm>
          <a:prstGeom prst="roundRect">
            <a:avLst>
              <a:gd fmla="val 22222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9"/>
          <p:cNvSpPr/>
          <p:nvPr/>
        </p:nvSpPr>
        <p:spPr>
          <a:xfrm>
            <a:off x="3663950" y="2044700"/>
            <a:ext cx="1003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3D4C66"/>
                </a:solidFill>
                <a:latin typeface="PingFang SC"/>
                <a:ea typeface="PingFang SC"/>
              </a:rPr>
              <a:t>轮次 m+1..k</a:t>
            </a:r>
          </a:p>
        </p:txBody>
      </p:sp>
      <p:cxnSp>
        <p:nvCxnSpPr>
          <p:cNvPr id="14" name="line 1"/>
          <p:cNvCxnSpPr/>
          <p:nvPr/>
        </p:nvCxnSpPr>
        <p:spPr>
          <a:xfrm>
            <a:off x="2032000" y="2152650"/>
            <a:ext cx="152400" cy="12700"/>
          </a:xfrm>
          <a:prstGeom prst="line">
            <a:avLst/>
          </a:prstGeom>
          <a:noFill/>
          <a:ln w="12700">
            <a:solidFill>
              <a:srgbClr val="7A8AA3"/>
            </a:solidFill>
          </a:ln>
        </p:spPr>
      </p:cxnSp>
      <p:sp>
        <p:nvSpPr>
          <p:cNvPr id="15" name="rect 10"/>
          <p:cNvSpPr/>
          <p:nvPr/>
        </p:nvSpPr>
        <p:spPr>
          <a:xfrm>
            <a:off x="2095500" y="2108200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8" h="8">
                <a:moveTo>
                  <a:pt x="0" y="0"/>
                </a:moveTo>
                <a:lnTo>
                  <a:pt x="8" y="4"/>
                </a:lnTo>
                <a:lnTo>
                  <a:pt x="0" y="8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6" name="line 2"/>
          <p:cNvCxnSpPr/>
          <p:nvPr/>
        </p:nvCxnSpPr>
        <p:spPr>
          <a:xfrm>
            <a:off x="3403600" y="2152650"/>
            <a:ext cx="152400" cy="12700"/>
          </a:xfrm>
          <a:prstGeom prst="line">
            <a:avLst/>
          </a:prstGeom>
          <a:noFill/>
          <a:ln w="12700">
            <a:solidFill>
              <a:srgbClr val="7A8AA3"/>
            </a:solidFill>
          </a:ln>
        </p:spPr>
      </p:cxnSp>
      <p:sp>
        <p:nvSpPr>
          <p:cNvPr id="17" name="rect 11"/>
          <p:cNvSpPr/>
          <p:nvPr/>
        </p:nvSpPr>
        <p:spPr>
          <a:xfrm>
            <a:off x="3467100" y="2108200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8" h="8">
                <a:moveTo>
                  <a:pt x="0" y="0"/>
                </a:moveTo>
                <a:lnTo>
                  <a:pt x="8" y="4"/>
                </a:lnTo>
                <a:lnTo>
                  <a:pt x="0" y="8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8" name="line 3"/>
          <p:cNvCxnSpPr/>
          <p:nvPr/>
        </p:nvCxnSpPr>
        <p:spPr>
          <a:xfrm>
            <a:off x="1416050" y="2387600"/>
            <a:ext cx="12700" cy="4318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19" name="rect 12"/>
          <p:cNvSpPr/>
          <p:nvPr/>
        </p:nvSpPr>
        <p:spPr>
          <a:xfrm>
            <a:off x="1346200" y="2686050"/>
            <a:ext cx="152400" cy="152400"/>
          </a:xfrm>
          <a:custGeom>
            <a:avLst/>
            <a:gdLst/>
            <a:ahLst/>
            <a:cxnLst/>
            <a:rect l="0" t="0" r="0" b="0"/>
            <a:pathLst>
              <a:path w="12" h="12">
                <a:moveTo>
                  <a:pt x="12" y="0"/>
                </a:move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13"/>
          <p:cNvSpPr/>
          <p:nvPr/>
        </p:nvSpPr>
        <p:spPr>
          <a:xfrm>
            <a:off x="1549400" y="2527300"/>
            <a:ext cx="7366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251">
                <a:solidFill>
                  <a:srgbClr val="7A8AA3"/>
                </a:solidFill>
                <a:latin typeface="PingFang SC"/>
                <a:ea typeface="PingFang SC"/>
              </a:rPr>
              <a:t>语义信号</a:t>
            </a:r>
          </a:p>
        </p:txBody>
      </p:sp>
      <p:sp>
        <p:nvSpPr>
          <p:cNvPr id="21" name="roundRect 4"/>
          <p:cNvSpPr/>
          <p:nvPr/>
        </p:nvSpPr>
        <p:spPr>
          <a:xfrm>
            <a:off x="812800" y="2844800"/>
            <a:ext cx="3962400" cy="533400"/>
          </a:xfrm>
          <a:prstGeom prst="roundRect">
            <a:avLst>
              <a:gd fmla="val 19048" name="adj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 14"/>
          <p:cNvSpPr/>
          <p:nvPr/>
        </p:nvSpPr>
        <p:spPr>
          <a:xfrm>
            <a:off x="1092200" y="2997200"/>
            <a:ext cx="3403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1B2A41"/>
                </a:solidFill>
                <a:latin typeface="PingFang SC"/>
                <a:ea typeface="PingFang SC"/>
              </a:rPr>
              <a:t>Session 识别与切分（话题 / 任务 / 时间）</a:t>
            </a:r>
          </a:p>
        </p:txBody>
      </p:sp>
      <p:cxnSp>
        <p:nvCxnSpPr>
          <p:cNvPr id="23" name="line 4"/>
          <p:cNvCxnSpPr/>
          <p:nvPr/>
        </p:nvCxnSpPr>
        <p:spPr>
          <a:xfrm>
            <a:off x="1416050" y="3378200"/>
            <a:ext cx="12700" cy="3810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24" name="rect 15"/>
          <p:cNvSpPr/>
          <p:nvPr/>
        </p:nvSpPr>
        <p:spPr>
          <a:xfrm>
            <a:off x="1346200" y="3625850"/>
            <a:ext cx="152400" cy="152400"/>
          </a:xfrm>
          <a:custGeom>
            <a:avLst/>
            <a:gdLst/>
            <a:ahLst/>
            <a:cxnLst/>
            <a:rect l="0" t="0" r="0" b="0"/>
            <a:pathLst>
              <a:path w="12" h="12">
                <a:moveTo>
                  <a:pt x="12" y="0"/>
                </a:move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 16"/>
          <p:cNvSpPr/>
          <p:nvPr/>
        </p:nvSpPr>
        <p:spPr>
          <a:xfrm>
            <a:off x="1549400" y="3467100"/>
            <a:ext cx="7366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251">
                <a:solidFill>
                  <a:srgbClr val="7A8AA3"/>
                </a:solidFill>
                <a:latin typeface="PingFang SC"/>
                <a:ea typeface="PingFang SC"/>
              </a:rPr>
              <a:t>逐层归档</a:t>
            </a:r>
          </a:p>
        </p:txBody>
      </p:sp>
      <p:sp>
        <p:nvSpPr>
          <p:cNvPr id="26" name="roundRect 5"/>
          <p:cNvSpPr/>
          <p:nvPr/>
        </p:nvSpPr>
        <p:spPr>
          <a:xfrm>
            <a:off x="812800" y="3784600"/>
            <a:ext cx="3962400" cy="381000"/>
          </a:xfrm>
          <a:prstGeom prst="roundRect">
            <a:avLst>
              <a:gd fmla="val 20000" name="adj"/>
            </a:avLst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 17"/>
          <p:cNvSpPr/>
          <p:nvPr/>
        </p:nvSpPr>
        <p:spPr>
          <a:xfrm>
            <a:off x="2266950" y="3860800"/>
            <a:ext cx="1054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FFFFFF"/>
                </a:solidFill>
                <a:latin typeface="PingFang SC"/>
                <a:ea typeface="PingFang SC"/>
              </a:rPr>
              <a:t>L2 主题摘要</a:t>
            </a:r>
          </a:p>
        </p:txBody>
      </p:sp>
      <p:sp>
        <p:nvSpPr>
          <p:cNvPr id="28" name="roundRect 6"/>
          <p:cNvSpPr/>
          <p:nvPr/>
        </p:nvSpPr>
        <p:spPr>
          <a:xfrm>
            <a:off x="812800" y="4241800"/>
            <a:ext cx="3962400" cy="381000"/>
          </a:xfrm>
          <a:prstGeom prst="roundRect">
            <a:avLst>
              <a:gd fmla="val 20000" name="adj"/>
            </a:avLst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 18"/>
          <p:cNvSpPr/>
          <p:nvPr/>
        </p:nvSpPr>
        <p:spPr>
          <a:xfrm>
            <a:off x="2286000" y="4318000"/>
            <a:ext cx="1016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FFFFFF"/>
                </a:solidFill>
                <a:latin typeface="PingFang SC"/>
                <a:ea typeface="PingFang SC"/>
              </a:rPr>
              <a:t>L1 会话摘要</a:t>
            </a:r>
          </a:p>
        </p:txBody>
      </p:sp>
      <p:sp>
        <p:nvSpPr>
          <p:cNvPr id="30" name="roundRect 7"/>
          <p:cNvSpPr/>
          <p:nvPr/>
        </p:nvSpPr>
        <p:spPr>
          <a:xfrm>
            <a:off x="812800" y="4699000"/>
            <a:ext cx="3962400" cy="381000"/>
          </a:xfrm>
          <a:prstGeom prst="roundRect">
            <a:avLst>
              <a:gd fmla="val 20000" name="adj"/>
            </a:avLst>
          </a:prstGeom>
          <a:solidFill>
            <a:srgbClr val="12B5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 19"/>
          <p:cNvSpPr/>
          <p:nvPr/>
        </p:nvSpPr>
        <p:spPr>
          <a:xfrm>
            <a:off x="1924050" y="4775200"/>
            <a:ext cx="1739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FFFFFF"/>
                </a:solidFill>
                <a:latin typeface="PingFang SC"/>
                <a:ea typeface="PingFang SC"/>
              </a:rPr>
              <a:t>L0 原始对话（冷存）</a:t>
            </a:r>
          </a:p>
        </p:txBody>
      </p:sp>
      <p:sp>
        <p:nvSpPr>
          <p:cNvPr id="32" name="rect 20"/>
          <p:cNvSpPr/>
          <p:nvPr/>
        </p:nvSpPr>
        <p:spPr>
          <a:xfrm>
            <a:off x="4813300" y="4838700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8" h="8">
                <a:moveTo>
                  <a:pt x="8" y="8"/>
                </a:moveTo>
                <a:lnTo>
                  <a:pt x="0" y="4"/>
                </a:lnTo>
                <a:lnTo>
                  <a:pt x="8" y="0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 21"/>
          <p:cNvSpPr/>
          <p:nvPr/>
        </p:nvSpPr>
        <p:spPr>
          <a:xfrm>
            <a:off x="4826000" y="3975100"/>
            <a:ext cx="380619" cy="914019"/>
          </a:xfrm>
          <a:custGeom>
            <a:avLst/>
            <a:gdLst/>
            <a:ahLst/>
            <a:cxnLst/>
            <a:rect l="0" t="0" r="0" b="0"/>
            <a:pathLst>
              <a:path w="30" h="72">
                <a:moveTo>
                  <a:pt x="0" y="0"/>
                </a:moveTo>
                <a:lnTo>
                  <a:pt x="2" y="0"/>
                </a:lnTo>
                <a:lnTo>
                  <a:pt x="5" y="0"/>
                </a:lnTo>
                <a:lnTo>
                  <a:pt x="5" y="0"/>
                </a:lnTo>
                <a:moveTo>
                  <a:pt x="9" y="1"/>
                </a:moveTo>
                <a:lnTo>
                  <a:pt x="11" y="2"/>
                </a:lnTo>
                <a:lnTo>
                  <a:pt x="12" y="3"/>
                </a:lnTo>
                <a:lnTo>
                  <a:pt x="13" y="3"/>
                </a:lnTo>
                <a:moveTo>
                  <a:pt x="17" y="5"/>
                </a:moveTo>
                <a:lnTo>
                  <a:pt x="17" y="6"/>
                </a:lnTo>
                <a:lnTo>
                  <a:pt x="19" y="7"/>
                </a:lnTo>
                <a:lnTo>
                  <a:pt x="20" y="9"/>
                </a:lnTo>
                <a:lnTo>
                  <a:pt x="21" y="9"/>
                </a:lnTo>
                <a:moveTo>
                  <a:pt x="23" y="12"/>
                </a:moveTo>
                <a:lnTo>
                  <a:pt x="24" y="13"/>
                </a:lnTo>
                <a:lnTo>
                  <a:pt x="25" y="15"/>
                </a:lnTo>
                <a:lnTo>
                  <a:pt x="26" y="16"/>
                </a:lnTo>
                <a:moveTo>
                  <a:pt x="27" y="20"/>
                </a:moveTo>
                <a:lnTo>
                  <a:pt x="27" y="21"/>
                </a:lnTo>
                <a:lnTo>
                  <a:pt x="28" y="23"/>
                </a:lnTo>
                <a:lnTo>
                  <a:pt x="29" y="25"/>
                </a:lnTo>
                <a:lnTo>
                  <a:pt x="29" y="25"/>
                </a:lnTo>
                <a:moveTo>
                  <a:pt x="29" y="29"/>
                </a:moveTo>
                <a:lnTo>
                  <a:pt x="29" y="29"/>
                </a:lnTo>
                <a:lnTo>
                  <a:pt x="30" y="31"/>
                </a:lnTo>
                <a:lnTo>
                  <a:pt x="30" y="33"/>
                </a:lnTo>
                <a:lnTo>
                  <a:pt x="30" y="34"/>
                </a:lnTo>
                <a:moveTo>
                  <a:pt x="30" y="38"/>
                </a:moveTo>
                <a:lnTo>
                  <a:pt x="30" y="39"/>
                </a:lnTo>
                <a:lnTo>
                  <a:pt x="30" y="41"/>
                </a:lnTo>
                <a:lnTo>
                  <a:pt x="30" y="43"/>
                </a:lnTo>
                <a:moveTo>
                  <a:pt x="29" y="46"/>
                </a:moveTo>
                <a:lnTo>
                  <a:pt x="29" y="47"/>
                </a:lnTo>
                <a:lnTo>
                  <a:pt x="28" y="49"/>
                </a:lnTo>
                <a:lnTo>
                  <a:pt x="27" y="51"/>
                </a:lnTo>
                <a:moveTo>
                  <a:pt x="26" y="55"/>
                </a:moveTo>
                <a:lnTo>
                  <a:pt x="26" y="55"/>
                </a:lnTo>
                <a:lnTo>
                  <a:pt x="25" y="57"/>
                </a:lnTo>
                <a:lnTo>
                  <a:pt x="24" y="59"/>
                </a:lnTo>
                <a:lnTo>
                  <a:pt x="23" y="59"/>
                </a:lnTo>
                <a:moveTo>
                  <a:pt x="21" y="63"/>
                </a:moveTo>
                <a:lnTo>
                  <a:pt x="20" y="63"/>
                </a:lnTo>
                <a:lnTo>
                  <a:pt x="19" y="65"/>
                </a:lnTo>
                <a:lnTo>
                  <a:pt x="18" y="66"/>
                </a:lnTo>
                <a:moveTo>
                  <a:pt x="14" y="68"/>
                </a:moveTo>
                <a:lnTo>
                  <a:pt x="14" y="68"/>
                </a:lnTo>
                <a:lnTo>
                  <a:pt x="12" y="69"/>
                </a:lnTo>
                <a:lnTo>
                  <a:pt x="11" y="70"/>
                </a:lnTo>
                <a:lnTo>
                  <a:pt x="10" y="70"/>
                </a:lnTo>
                <a:moveTo>
                  <a:pt x="6" y="71"/>
                </a:moveTo>
                <a:lnTo>
                  <a:pt x="5" y="72"/>
                </a:lnTo>
                <a:lnTo>
                  <a:pt x="2" y="72"/>
                </a:lnTo>
                <a:lnTo>
                  <a:pt x="1" y="72"/>
                </a:lnTo>
              </a:path>
            </a:pathLst>
          </a:custGeom>
          <a:noFill/>
          <a:ln w="12700">
            <a:solidFill>
              <a:srgbClr val="7A8AA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 22"/>
          <p:cNvSpPr/>
          <p:nvPr/>
        </p:nvSpPr>
        <p:spPr>
          <a:xfrm>
            <a:off x="5384800" y="4318000"/>
            <a:ext cx="7366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251">
                <a:solidFill>
                  <a:srgbClr val="7A8AA3"/>
                </a:solidFill>
                <a:latin typeface="PingFang SC"/>
                <a:ea typeface="PingFang SC"/>
              </a:rPr>
              <a:t>下钻回溯</a:t>
            </a:r>
          </a:p>
        </p:txBody>
      </p:sp>
      <p:sp>
        <p:nvSpPr>
          <p:cNvPr id="35" name="roundRect 8"/>
          <p:cNvSpPr/>
          <p:nvPr/>
        </p:nvSpPr>
        <p:spPr>
          <a:xfrm>
            <a:off x="5969000" y="1930400"/>
            <a:ext cx="2540000" cy="533400"/>
          </a:xfrm>
          <a:prstGeom prst="roundRect">
            <a:avLst>
              <a:gd fmla="val 19048" name="adj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 23"/>
          <p:cNvSpPr/>
          <p:nvPr/>
        </p:nvSpPr>
        <p:spPr>
          <a:xfrm>
            <a:off x="6330950" y="2082800"/>
            <a:ext cx="1816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1B2A41"/>
                </a:solidFill>
                <a:latin typeface="PingFang SC"/>
                <a:ea typeface="PingFang SC"/>
              </a:rPr>
              <a:t>滑动窗口（候选跟踪）</a:t>
            </a:r>
          </a:p>
        </p:txBody>
      </p:sp>
      <p:cxnSp>
        <p:nvCxnSpPr>
          <p:cNvPr id="37" name="line 5"/>
          <p:cNvCxnSpPr/>
          <p:nvPr/>
        </p:nvCxnSpPr>
        <p:spPr>
          <a:xfrm>
            <a:off x="7232650" y="2463800"/>
            <a:ext cx="12700" cy="2794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38" name="rect 24"/>
          <p:cNvSpPr/>
          <p:nvPr/>
        </p:nvSpPr>
        <p:spPr>
          <a:xfrm>
            <a:off x="7162800" y="2609850"/>
            <a:ext cx="152400" cy="152400"/>
          </a:xfrm>
          <a:custGeom>
            <a:avLst/>
            <a:gdLst/>
            <a:ahLst/>
            <a:cxnLst/>
            <a:rect l="0" t="0" r="0" b="0"/>
            <a:pathLst>
              <a:path w="12" h="12">
                <a:moveTo>
                  <a:pt x="12" y="0"/>
                </a:move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 25"/>
          <p:cNvSpPr/>
          <p:nvPr/>
        </p:nvSpPr>
        <p:spPr>
          <a:xfrm>
            <a:off x="7366000" y="2501900"/>
            <a:ext cx="7366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251">
                <a:solidFill>
                  <a:srgbClr val="7A8AA3"/>
                </a:solidFill>
                <a:latin typeface="PingFang SC"/>
                <a:ea typeface="PingFang SC"/>
              </a:rPr>
              <a:t>窗口滑过</a:t>
            </a:r>
          </a:p>
        </p:txBody>
      </p:sp>
      <p:sp>
        <p:nvSpPr>
          <p:cNvPr id="40" name="roundRect 9"/>
          <p:cNvSpPr/>
          <p:nvPr/>
        </p:nvSpPr>
        <p:spPr>
          <a:xfrm>
            <a:off x="5969000" y="2768600"/>
            <a:ext cx="2540000" cy="533400"/>
          </a:xfrm>
          <a:prstGeom prst="roundRect">
            <a:avLst>
              <a:gd fmla="val 19048" name="adj"/>
            </a:avLst>
          </a:prstGeom>
          <a:solidFill>
            <a:srgbClr val="FFFFFF"/>
          </a:solidFill>
          <a:ln w="19050">
            <a:solidFill>
              <a:srgbClr val="12B5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 26"/>
          <p:cNvSpPr/>
          <p:nvPr/>
        </p:nvSpPr>
        <p:spPr>
          <a:xfrm>
            <a:off x="6756400" y="2921000"/>
            <a:ext cx="965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1B2A41"/>
                </a:solidFill>
                <a:latin typeface="PingFang SC"/>
                <a:ea typeface="PingFang SC"/>
              </a:rPr>
              <a:t>知识点抽取</a:t>
            </a:r>
          </a:p>
        </p:txBody>
      </p:sp>
      <p:sp>
        <p:nvSpPr>
          <p:cNvPr id="42" name="roundRect 10"/>
          <p:cNvSpPr/>
          <p:nvPr/>
        </p:nvSpPr>
        <p:spPr>
          <a:xfrm>
            <a:off x="9093200" y="1930400"/>
            <a:ext cx="2286000" cy="1905000"/>
          </a:xfrm>
          <a:prstGeom prst="roundRect">
            <a:avLst>
              <a:gd fmla="val 6667" name="adj"/>
            </a:avLst>
          </a:prstGeom>
          <a:solidFill>
            <a:srgbClr val="EEF2F9"/>
          </a:solidFill>
          <a:ln w="19050">
            <a:solidFill>
              <a:srgbClr val="1B2A4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 27"/>
          <p:cNvSpPr/>
          <p:nvPr/>
        </p:nvSpPr>
        <p:spPr>
          <a:xfrm>
            <a:off x="9328150" y="2108200"/>
            <a:ext cx="1816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 b="1">
                <a:solidFill>
                  <a:srgbClr val="1B2A41"/>
                </a:solidFill>
                <a:latin typeface="PingFang SC"/>
                <a:ea typeface="PingFang SC"/>
              </a:rPr>
              <a:t>知识图（非线性结构）</a:t>
            </a:r>
          </a:p>
        </p:txBody>
      </p:sp>
      <p:sp>
        <p:nvSpPr>
          <p:cNvPr id="44" name="roundRect 11"/>
          <p:cNvSpPr/>
          <p:nvPr/>
        </p:nvSpPr>
        <p:spPr>
          <a:xfrm>
            <a:off x="9347200" y="2540000"/>
            <a:ext cx="1778000" cy="3810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w="12700">
            <a:solidFill>
              <a:srgbClr val="2F6B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 28"/>
          <p:cNvSpPr/>
          <p:nvPr/>
        </p:nvSpPr>
        <p:spPr>
          <a:xfrm>
            <a:off x="9486900" y="2616200"/>
            <a:ext cx="1498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1B2A41"/>
                </a:solidFill>
                <a:latin typeface="PingFang SC"/>
                <a:ea typeface="PingFang SC"/>
              </a:rPr>
              <a:t>知识点 · 自含陈述</a:t>
            </a:r>
          </a:p>
        </p:txBody>
      </p:sp>
      <p:sp>
        <p:nvSpPr>
          <p:cNvPr id="46" name="roundRect 12"/>
          <p:cNvSpPr/>
          <p:nvPr/>
        </p:nvSpPr>
        <p:spPr>
          <a:xfrm>
            <a:off x="9347200" y="3149600"/>
            <a:ext cx="1778000" cy="3810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w="12700">
            <a:solidFill>
              <a:srgbClr val="12B5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 29"/>
          <p:cNvSpPr/>
          <p:nvPr/>
        </p:nvSpPr>
        <p:spPr>
          <a:xfrm>
            <a:off x="9398000" y="3225800"/>
            <a:ext cx="1676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1B2A41"/>
                </a:solidFill>
                <a:latin typeface="PingFang SC"/>
                <a:ea typeface="PingFang SC"/>
              </a:rPr>
              <a:t>修正 / 否定（留痕）</a:t>
            </a:r>
          </a:p>
        </p:txBody>
      </p:sp>
      <p:cxnSp>
        <p:nvCxnSpPr>
          <p:cNvPr id="48" name="line 6"/>
          <p:cNvCxnSpPr/>
          <p:nvPr/>
        </p:nvCxnSpPr>
        <p:spPr>
          <a:xfrm>
            <a:off x="10229850" y="2921000"/>
            <a:ext cx="12700" cy="2286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49" name="rect 30"/>
          <p:cNvSpPr/>
          <p:nvPr/>
        </p:nvSpPr>
        <p:spPr>
          <a:xfrm>
            <a:off x="10160000" y="3016250"/>
            <a:ext cx="152400" cy="152400"/>
          </a:xfrm>
          <a:custGeom>
            <a:avLst/>
            <a:gdLst/>
            <a:ahLst/>
            <a:cxnLst/>
            <a:rect l="0" t="0" r="0" b="0"/>
            <a:pathLst>
              <a:path w="12" h="12">
                <a:moveTo>
                  <a:pt x="12" y="0"/>
                </a:move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 31"/>
          <p:cNvSpPr/>
          <p:nvPr/>
        </p:nvSpPr>
        <p:spPr>
          <a:xfrm>
            <a:off x="10414000" y="2933700"/>
            <a:ext cx="5588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7A8AA3"/>
                </a:solidFill>
                <a:latin typeface="PingFang SC"/>
                <a:ea typeface="PingFang SC"/>
              </a:rPr>
              <a:t>三元组</a:t>
            </a:r>
          </a:p>
        </p:txBody>
      </p:sp>
      <p:cxnSp>
        <p:nvCxnSpPr>
          <p:cNvPr id="51" name="line 7"/>
          <p:cNvCxnSpPr/>
          <p:nvPr/>
        </p:nvCxnSpPr>
        <p:spPr>
          <a:xfrm flipV="1">
            <a:off x="8509000" y="2895600"/>
            <a:ext cx="584200" cy="1397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52" name="rect 32"/>
          <p:cNvSpPr/>
          <p:nvPr/>
        </p:nvSpPr>
        <p:spPr>
          <a:xfrm>
            <a:off x="8945753" y="2852547"/>
            <a:ext cx="165989" cy="148209"/>
          </a:xfrm>
          <a:custGeom>
            <a:avLst/>
            <a:gdLst/>
            <a:ahLst/>
            <a:cxnLst/>
            <a:rect l="0" t="0" r="0" b="0"/>
            <a:pathLst>
              <a:path w="13" h="12">
                <a:moveTo>
                  <a:pt x="0" y="0"/>
                </a:moveTo>
                <a:lnTo>
                  <a:pt x="13" y="3"/>
                </a:lnTo>
                <a:lnTo>
                  <a:pt x="3" y="12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 33"/>
          <p:cNvSpPr/>
          <p:nvPr/>
        </p:nvSpPr>
        <p:spPr>
          <a:xfrm>
            <a:off x="8483600" y="3111500"/>
            <a:ext cx="10922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251">
                <a:solidFill>
                  <a:srgbClr val="7A8AA3"/>
                </a:solidFill>
                <a:latin typeface="PingFang SC"/>
                <a:ea typeface="PingFang SC"/>
              </a:rPr>
              <a:t>条目 + 三元组</a:t>
            </a:r>
          </a:p>
        </p:txBody>
      </p:sp>
      <p:sp>
        <p:nvSpPr>
          <p:cNvPr id="54" name="roundRect 13"/>
          <p:cNvSpPr/>
          <p:nvPr/>
        </p:nvSpPr>
        <p:spPr>
          <a:xfrm>
            <a:off x="9093200" y="4013200"/>
            <a:ext cx="2286000" cy="5080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w="19050">
            <a:solidFill>
              <a:srgbClr val="F2A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 34"/>
          <p:cNvSpPr/>
          <p:nvPr/>
        </p:nvSpPr>
        <p:spPr>
          <a:xfrm>
            <a:off x="9156700" y="4152900"/>
            <a:ext cx="2159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1B2A41"/>
                </a:solidFill>
                <a:latin typeface="PingFang SC"/>
                <a:ea typeface="PingFang SC"/>
              </a:rPr>
              <a:t>显式写入（文档直接入库）</a:t>
            </a:r>
          </a:p>
        </p:txBody>
      </p:sp>
      <p:cxnSp>
        <p:nvCxnSpPr>
          <p:cNvPr id="56" name="line 8"/>
          <p:cNvCxnSpPr/>
          <p:nvPr/>
        </p:nvCxnSpPr>
        <p:spPr>
          <a:xfrm flipV="1">
            <a:off x="10229850" y="3860800"/>
            <a:ext cx="12700" cy="152400"/>
          </a:xfrm>
          <a:prstGeom prst="line">
            <a:avLst/>
          </a:prstGeom>
          <a:noFill/>
          <a:ln w="19050">
            <a:solidFill>
              <a:srgbClr val="F2A93B"/>
            </a:solidFill>
          </a:ln>
        </p:spPr>
      </p:cxnSp>
      <p:sp>
        <p:nvSpPr>
          <p:cNvPr id="57" name="rect 35"/>
          <p:cNvSpPr/>
          <p:nvPr/>
        </p:nvSpPr>
        <p:spPr>
          <a:xfrm>
            <a:off x="10160000" y="3841750"/>
            <a:ext cx="152400" cy="152400"/>
          </a:xfrm>
          <a:custGeom>
            <a:avLst/>
            <a:gdLst/>
            <a:ahLst/>
            <a:cxnLst/>
            <a:rect l="0" t="0" r="0" b="0"/>
            <a:pathLst>
              <a:path w="12" h="12">
                <a:moveTo>
                  <a:pt x="0" y="12"/>
                </a:moveTo>
                <a:lnTo>
                  <a:pt x="6" y="0"/>
                </a:lnTo>
                <a:lnTo>
                  <a:pt x="12" y="12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 36"/>
          <p:cNvSpPr/>
          <p:nvPr/>
        </p:nvSpPr>
        <p:spPr>
          <a:xfrm>
            <a:off x="812800" y="5499100"/>
            <a:ext cx="81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7A8AA3"/>
                </a:solidFill>
                <a:latin typeface="PingFang SC"/>
                <a:ea typeface="PingFang SC"/>
              </a:rPr>
              <a:t>读取通道</a:t>
            </a:r>
          </a:p>
        </p:txBody>
      </p:sp>
      <p:sp>
        <p:nvSpPr>
          <p:cNvPr id="59" name="roundRect 14"/>
          <p:cNvSpPr/>
          <p:nvPr/>
        </p:nvSpPr>
        <p:spPr>
          <a:xfrm>
            <a:off x="812800" y="5842000"/>
            <a:ext cx="3048000" cy="558800"/>
          </a:xfrm>
          <a:prstGeom prst="roundRect">
            <a:avLst>
              <a:gd fmla="val 18182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 37"/>
          <p:cNvSpPr/>
          <p:nvPr/>
        </p:nvSpPr>
        <p:spPr>
          <a:xfrm>
            <a:off x="1054100" y="6007100"/>
            <a:ext cx="2565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1B2A41"/>
                </a:solidFill>
                <a:latin typeface="PingFang SC"/>
                <a:ea typeface="PingFang SC"/>
              </a:rPr>
              <a:t>自动回忆（按 Agent 机制适配）</a:t>
            </a:r>
          </a:p>
        </p:txBody>
      </p:sp>
      <p:sp>
        <p:nvSpPr>
          <p:cNvPr id="61" name="roundRect 15"/>
          <p:cNvSpPr/>
          <p:nvPr/>
        </p:nvSpPr>
        <p:spPr>
          <a:xfrm>
            <a:off x="4267200" y="5842000"/>
            <a:ext cx="3048000" cy="558800"/>
          </a:xfrm>
          <a:prstGeom prst="roundRect">
            <a:avLst>
              <a:gd fmla="val 18182" name="adj"/>
            </a:avLst>
          </a:prstGeom>
          <a:solidFill>
            <a:srgbClr val="EEF2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 38"/>
          <p:cNvSpPr/>
          <p:nvPr/>
        </p:nvSpPr>
        <p:spPr>
          <a:xfrm>
            <a:off x="4578350" y="6007100"/>
            <a:ext cx="2425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1B2A41"/>
                </a:solidFill>
                <a:latin typeface="PingFang SC"/>
                <a:ea typeface="PingFang SC"/>
              </a:rPr>
              <a:t>显式读取（"读一下 hypatia"）</a:t>
            </a:r>
          </a:p>
        </p:txBody>
      </p:sp>
      <p:sp>
        <p:nvSpPr>
          <p:cNvPr id="63" name="roundRect 16"/>
          <p:cNvSpPr/>
          <p:nvPr/>
        </p:nvSpPr>
        <p:spPr>
          <a:xfrm>
            <a:off x="7874000" y="5842000"/>
            <a:ext cx="2540000" cy="558800"/>
          </a:xfrm>
          <a:prstGeom prst="roundRect">
            <a:avLst>
              <a:gd fmla="val 18182" name="adj"/>
            </a:avLst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 39"/>
          <p:cNvSpPr/>
          <p:nvPr/>
        </p:nvSpPr>
        <p:spPr>
          <a:xfrm>
            <a:off x="8489950" y="6007100"/>
            <a:ext cx="1308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351">
                <a:solidFill>
                  <a:srgbClr val="FFFFFF"/>
                </a:solidFill>
                <a:latin typeface="PingFang SC"/>
                <a:ea typeface="PingFang SC"/>
              </a:rPr>
              <a:t>Agent 完成任务</a:t>
            </a:r>
          </a:p>
        </p:txBody>
      </p:sp>
      <p:cxnSp>
        <p:nvCxnSpPr>
          <p:cNvPr id="65" name="line 9"/>
          <p:cNvCxnSpPr/>
          <p:nvPr/>
        </p:nvCxnSpPr>
        <p:spPr>
          <a:xfrm>
            <a:off x="3860800" y="6115050"/>
            <a:ext cx="406400" cy="127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66" name="rect 40"/>
          <p:cNvSpPr/>
          <p:nvPr/>
        </p:nvSpPr>
        <p:spPr>
          <a:xfrm>
            <a:off x="4133850" y="6045200"/>
            <a:ext cx="152400" cy="152400"/>
          </a:xfrm>
          <a:custGeom>
            <a:avLst/>
            <a:gdLst/>
            <a:ahLst/>
            <a:cxnLst/>
            <a:rect l="0" t="0" r="0" b="0"/>
            <a:pathLst>
              <a:path w="12" h="12">
                <a:moveTo>
                  <a:pt x="0" y="0"/>
                </a:moveTo>
                <a:lnTo>
                  <a:pt x="12" y="6"/>
                </a:lnTo>
                <a:lnTo>
                  <a:pt x="0" y="12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67" name="line 10"/>
          <p:cNvCxnSpPr/>
          <p:nvPr/>
        </p:nvCxnSpPr>
        <p:spPr>
          <a:xfrm>
            <a:off x="7315200" y="6115050"/>
            <a:ext cx="558800" cy="127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68" name="rect 41"/>
          <p:cNvSpPr/>
          <p:nvPr/>
        </p:nvSpPr>
        <p:spPr>
          <a:xfrm>
            <a:off x="7740650" y="6045200"/>
            <a:ext cx="152400" cy="152400"/>
          </a:xfrm>
          <a:custGeom>
            <a:avLst/>
            <a:gdLst/>
            <a:ahLst/>
            <a:cxnLst/>
            <a:rect l="0" t="0" r="0" b="0"/>
            <a:pathLst>
              <a:path w="12" h="12">
                <a:moveTo>
                  <a:pt x="0" y="0"/>
                </a:moveTo>
                <a:lnTo>
                  <a:pt x="12" y="6"/>
                </a:lnTo>
                <a:lnTo>
                  <a:pt x="0" y="12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 42"/>
          <p:cNvSpPr/>
          <p:nvPr/>
        </p:nvSpPr>
        <p:spPr>
          <a:xfrm>
            <a:off x="1892808" y="5768340"/>
            <a:ext cx="111760" cy="97536"/>
          </a:xfrm>
          <a:custGeom>
            <a:avLst/>
            <a:gdLst/>
            <a:ahLst/>
            <a:cxnLst/>
            <a:rect l="0" t="0" r="0" b="0"/>
            <a:pathLst>
              <a:path w="9" h="8">
                <a:moveTo>
                  <a:pt x="9" y="8"/>
                </a:moveTo>
                <a:lnTo>
                  <a:pt x="0" y="6"/>
                </a:lnTo>
                <a:lnTo>
                  <a:pt x="7" y="0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 43"/>
          <p:cNvSpPr/>
          <p:nvPr/>
        </p:nvSpPr>
        <p:spPr>
          <a:xfrm>
            <a:off x="1934718" y="5270500"/>
            <a:ext cx="1926082" cy="562864"/>
          </a:xfrm>
          <a:custGeom>
            <a:avLst/>
            <a:gdLst/>
            <a:ahLst/>
            <a:cxnLst/>
            <a:rect l="0" t="0" r="0" b="0"/>
            <a:pathLst>
              <a:path w="152" h="44">
                <a:moveTo>
                  <a:pt x="152" y="0"/>
                </a:moveTo>
                <a:lnTo>
                  <a:pt x="147" y="1"/>
                </a:lnTo>
                <a:moveTo>
                  <a:pt x="143" y="3"/>
                </a:moveTo>
                <a:lnTo>
                  <a:pt x="138" y="4"/>
                </a:lnTo>
                <a:moveTo>
                  <a:pt x="134" y="5"/>
                </a:moveTo>
                <a:lnTo>
                  <a:pt x="130" y="6"/>
                </a:lnTo>
                <a:moveTo>
                  <a:pt x="126" y="8"/>
                </a:moveTo>
                <a:lnTo>
                  <a:pt x="121" y="9"/>
                </a:lnTo>
                <a:moveTo>
                  <a:pt x="117" y="10"/>
                </a:moveTo>
                <a:lnTo>
                  <a:pt x="112" y="12"/>
                </a:lnTo>
                <a:moveTo>
                  <a:pt x="108" y="13"/>
                </a:moveTo>
                <a:lnTo>
                  <a:pt x="104" y="14"/>
                </a:lnTo>
                <a:moveTo>
                  <a:pt x="100" y="15"/>
                </a:moveTo>
                <a:lnTo>
                  <a:pt x="95" y="17"/>
                </a:lnTo>
                <a:moveTo>
                  <a:pt x="91" y="18"/>
                </a:moveTo>
                <a:lnTo>
                  <a:pt x="86" y="19"/>
                </a:lnTo>
                <a:moveTo>
                  <a:pt x="83" y="20"/>
                </a:moveTo>
                <a:lnTo>
                  <a:pt x="78" y="22"/>
                </a:lnTo>
                <a:moveTo>
                  <a:pt x="74" y="23"/>
                </a:moveTo>
                <a:lnTo>
                  <a:pt x="69" y="24"/>
                </a:lnTo>
                <a:moveTo>
                  <a:pt x="65" y="25"/>
                </a:moveTo>
                <a:lnTo>
                  <a:pt x="60" y="27"/>
                </a:lnTo>
                <a:moveTo>
                  <a:pt x="57" y="28"/>
                </a:moveTo>
                <a:lnTo>
                  <a:pt x="52" y="29"/>
                </a:lnTo>
                <a:moveTo>
                  <a:pt x="48" y="30"/>
                </a:moveTo>
                <a:lnTo>
                  <a:pt x="43" y="32"/>
                </a:lnTo>
                <a:moveTo>
                  <a:pt x="39" y="33"/>
                </a:moveTo>
                <a:lnTo>
                  <a:pt x="35" y="34"/>
                </a:lnTo>
                <a:moveTo>
                  <a:pt x="31" y="35"/>
                </a:moveTo>
                <a:lnTo>
                  <a:pt x="26" y="37"/>
                </a:lnTo>
                <a:moveTo>
                  <a:pt x="22" y="38"/>
                </a:moveTo>
                <a:lnTo>
                  <a:pt x="17" y="39"/>
                </a:lnTo>
                <a:moveTo>
                  <a:pt x="13" y="40"/>
                </a:moveTo>
                <a:lnTo>
                  <a:pt x="9" y="42"/>
                </a:lnTo>
                <a:moveTo>
                  <a:pt x="5" y="43"/>
                </a:moveTo>
                <a:lnTo>
                  <a:pt x="0" y="44"/>
                </a:lnTo>
              </a:path>
            </a:pathLst>
          </a:custGeom>
          <a:noFill/>
          <a:ln w="12700">
            <a:solidFill>
              <a:srgbClr val="7A8AA3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71" name="line 11"/>
          <p:cNvCxnSpPr/>
          <p:nvPr/>
        </p:nvCxnSpPr>
        <p:spPr>
          <a:xfrm>
            <a:off x="10229850" y="4521200"/>
            <a:ext cx="12700" cy="1320800"/>
          </a:xfrm>
          <a:prstGeom prst="line">
            <a:avLst/>
          </a:prstGeom>
          <a:noFill/>
          <a:ln w="19050">
            <a:solidFill>
              <a:srgbClr val="7A8AA3"/>
            </a:solidFill>
          </a:ln>
        </p:spPr>
      </p:cxnSp>
      <p:sp>
        <p:nvSpPr>
          <p:cNvPr id="72" name="rect 44"/>
          <p:cNvSpPr/>
          <p:nvPr/>
        </p:nvSpPr>
        <p:spPr>
          <a:xfrm>
            <a:off x="10160000" y="5708650"/>
            <a:ext cx="152400" cy="152400"/>
          </a:xfrm>
          <a:custGeom>
            <a:avLst/>
            <a:gdLst/>
            <a:ahLst/>
            <a:cxnLst/>
            <a:rect l="0" t="0" r="0" b="0"/>
            <a:pathLst>
              <a:path w="12" h="12">
                <a:moveTo>
                  <a:pt x="12" y="0"/>
                </a:move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7A8A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762000"/>
            <a:ext cx="2260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7A8AA3"/>
                </a:solidFill>
                <a:latin typeface="PingFang SC"/>
                <a:ea typeface="PingFang SC"/>
              </a:rPr>
              <a:t>HYPATIA · 非线性的记忆</a:t>
            </a:r>
          </a:p>
        </p:txBody>
      </p:sp>
      <p:sp>
        <p:nvSpPr>
          <p:cNvPr id="4" name="rect 3"/>
          <p:cNvSpPr/>
          <p:nvPr/>
        </p:nvSpPr>
        <p:spPr>
          <a:xfrm>
            <a:off x="762000" y="1295400"/>
            <a:ext cx="2476500" cy="1981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en-US" sz="13000" b="1">
                <a:solidFill>
                  <a:srgbClr val="RGBA(47, 107, 255, 0.55)"/>
                </a:solidFill>
                <a:latin typeface="PingFang SC"/>
                <a:ea typeface="Noto Sans SC"/>
              </a:rPr>
              <a:t>Fin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3479800"/>
            <a:ext cx="2133600" cy="609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4000" b="1">
                <a:solidFill>
                  <a:srgbClr val="FFFFFF"/>
                </a:solidFill>
                <a:latin typeface="PingFang SC"/>
                <a:ea typeface="PingFang SC"/>
              </a:rPr>
              <a:t>写在最后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4330700"/>
            <a:ext cx="73152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2000">
                <a:solidFill>
                  <a:srgbClr val="9FB4D8"/>
                </a:solidFill>
                <a:latin typeface="PingFang SC"/>
                <a:ea typeface="PingFang SC"/>
              </a:rPr>
              <a:t>四件事拼在一起，才是"有限记忆的 AI 使用无限长度的知识内容"</a:t>
            </a:r>
          </a:p>
        </p:txBody>
      </p:sp>
      <p:sp>
        <p:nvSpPr>
          <p:cNvPr id="7" name="ellipse 1"/>
          <p:cNvSpPr/>
          <p:nvPr/>
        </p:nvSpPr>
        <p:spPr>
          <a:xfrm>
            <a:off x="7493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2"/>
          <p:cNvSpPr/>
          <p:nvPr/>
        </p:nvSpPr>
        <p:spPr>
          <a:xfrm>
            <a:off x="10541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 3"/>
          <p:cNvSpPr/>
          <p:nvPr/>
        </p:nvSpPr>
        <p:spPr>
          <a:xfrm>
            <a:off x="13589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 4"/>
          <p:cNvSpPr/>
          <p:nvPr/>
        </p:nvSpPr>
        <p:spPr>
          <a:xfrm>
            <a:off x="16637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 5"/>
          <p:cNvSpPr/>
          <p:nvPr/>
        </p:nvSpPr>
        <p:spPr>
          <a:xfrm>
            <a:off x="1968500" y="6032500"/>
            <a:ext cx="127000" cy="127000"/>
          </a:xfrm>
          <a:prstGeom prst="ellipse">
            <a:avLst/>
          </a:prstGeom>
          <a:noFill/>
          <a:ln w="12700">
            <a:solidFill>
              <a:srgbClr val="3D557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 6"/>
          <p:cNvSpPr/>
          <p:nvPr/>
        </p:nvSpPr>
        <p:spPr>
          <a:xfrm>
            <a:off x="2273300" y="6032500"/>
            <a:ext cx="127000" cy="1270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4013200" y="2273300"/>
            <a:ext cx="4165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2000">
                <a:solidFill>
                  <a:srgbClr val="9FB4D8"/>
                </a:solidFill>
                <a:latin typeface="PingFang SC"/>
                <a:ea typeface="PingFang SC"/>
              </a:rPr>
              <a:t>对话是给人看的，知识是给机器用的</a:t>
            </a:r>
          </a:p>
        </p:txBody>
      </p:sp>
      <p:cxnSp>
        <p:nvCxnSpPr>
          <p:cNvPr id="4" name="line 1"/>
          <p:cNvCxnSpPr/>
          <p:nvPr/>
        </p:nvCxnSpPr>
        <p:spPr>
          <a:xfrm>
            <a:off x="5080000" y="2889250"/>
            <a:ext cx="2032000" cy="12700"/>
          </a:xfrm>
          <a:prstGeom prst="line">
            <a:avLst/>
          </a:prstGeom>
          <a:noFill/>
          <a:ln w="12700">
            <a:solidFill>
              <a:srgbClr val="2F3D5C"/>
            </a:solidFill>
          </a:ln>
        </p:spPr>
      </p:cxnSp>
      <p:sp>
        <p:nvSpPr>
          <p:cNvPr id="5" name="rect 3"/>
          <p:cNvSpPr/>
          <p:nvPr/>
        </p:nvSpPr>
        <p:spPr>
          <a:xfrm>
            <a:off x="5435600" y="3162300"/>
            <a:ext cx="1320800" cy="736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4800" b="1">
                <a:solidFill>
                  <a:srgbClr val="FFFFFF"/>
                </a:solidFill>
                <a:latin typeface="PingFang SC"/>
                <a:ea typeface="PingFang SC"/>
              </a:rPr>
              <a:t>谢谢</a:t>
            </a:r>
          </a:p>
        </p:txBody>
      </p:sp>
      <p:sp>
        <p:nvSpPr>
          <p:cNvPr id="6" name="rect 4"/>
          <p:cNvSpPr/>
          <p:nvPr/>
        </p:nvSpPr>
        <p:spPr>
          <a:xfrm>
            <a:off x="4838700" y="4229100"/>
            <a:ext cx="25146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800">
                <a:solidFill>
                  <a:srgbClr val="9FB4D8"/>
                </a:solidFill>
                <a:latin typeface="PingFang SC"/>
                <a:ea typeface="PingFang SC"/>
              </a:rPr>
              <a:t>非线性的记忆 · hypatia</a:t>
            </a:r>
          </a:p>
        </p:txBody>
      </p:sp>
      <p:sp>
        <p:nvSpPr>
          <p:cNvPr id="7" name="rect 5"/>
          <p:cNvSpPr/>
          <p:nvPr/>
        </p:nvSpPr>
        <p:spPr>
          <a:xfrm>
            <a:off x="4724400" y="5130800"/>
            <a:ext cx="274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en-US" sz="1500">
                <a:solidFill>
                  <a:srgbClr val="7A8AA3"/>
                </a:solidFill>
                <a:latin typeface="PingFang SC"/>
                <a:ea typeface="Noto Sans SC"/>
              </a:rPr>
              <a:t>github.com/MarchLiu/hypatia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26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非线性的记忆</vt:lpstr>
    </vt:vector>
  </TitlesOfParts>
  <Company>Univer.ai</Company>
  <LinksUpToDate>false</LinksUpToDate>
  <SharedDoc>false</SharedDoc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非线性的记忆</dc:title>
  <dc:creator>Univer.ai</dc:creator>
  <cp:lastModifiedBy>Univer.ai</cp:lastModifiedBy>
  <dcterms:created xsi:type="dcterms:W3CDTF">2026-01-01T00:00:00Z</dcterms:created>
  <dcterms:modified xsi:type="dcterms:W3CDTF">2026-01-01T00:00:00Z</dcterms:modified>
</cp:coreProperties>
</file>